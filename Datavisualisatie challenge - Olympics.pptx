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3" r:id="rId4"/>
  </p:sldMasterIdLst>
  <p:notesMasterIdLst>
    <p:notesMasterId r:id="rId11"/>
  </p:notesMasterIdLst>
  <p:sldIdLst>
    <p:sldId id="321" r:id="rId5"/>
    <p:sldId id="256" r:id="rId6"/>
    <p:sldId id="308" r:id="rId7"/>
    <p:sldId id="311" r:id="rId8"/>
    <p:sldId id="318" r:id="rId9"/>
    <p:sldId id="316"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a:srgbClr val="F90505"/>
    <a:srgbClr val="029C26"/>
    <a:srgbClr val="F39F00"/>
    <a:srgbClr val="FFFFFF"/>
    <a:srgbClr val="00A2C9"/>
    <a:srgbClr val="010101"/>
    <a:srgbClr val="C16C38"/>
    <a:srgbClr val="B25127"/>
    <a:srgbClr val="9CC8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jo de Jong" userId="c4ff724c-bc45-4377-9a42-1658206093f6" providerId="ADAL" clId="{30141884-A2D9-46B0-ACFF-491E8F3C9CFB}"/>
    <pc:docChg chg="delSld">
      <pc:chgData name="Herjo de Jong" userId="c4ff724c-bc45-4377-9a42-1658206093f6" providerId="ADAL" clId="{30141884-A2D9-46B0-ACFF-491E8F3C9CFB}" dt="2026-05-08T12:35:03.392" v="0" actId="47"/>
      <pc:docMkLst>
        <pc:docMk/>
      </pc:docMkLst>
      <pc:sldChg chg="del">
        <pc:chgData name="Herjo de Jong" userId="c4ff724c-bc45-4377-9a42-1658206093f6" providerId="ADAL" clId="{30141884-A2D9-46B0-ACFF-491E8F3C9CFB}" dt="2026-05-08T12:35:03.392" v="0" actId="47"/>
        <pc:sldMkLst>
          <pc:docMk/>
          <pc:sldMk cId="2029251421" sldId="32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95FA62-E886-4374-91E8-C344E2CD5DF8}" type="datetimeFigureOut">
              <a:rPr lang="nl-NL" smtClean="0"/>
              <a:t>8-5-2026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251DBA-13ED-4477-85C5-0600D0280FCD}" type="slidenum">
              <a:rPr lang="nl-NL" smtClean="0"/>
              <a:t>‹#›</a:t>
            </a:fld>
            <a:endParaRPr lang="nl-NL"/>
          </a:p>
        </p:txBody>
      </p:sp>
    </p:spTree>
    <p:extLst>
      <p:ext uri="{BB962C8B-B14F-4D97-AF65-F5344CB8AC3E}">
        <p14:creationId xmlns:p14="http://schemas.microsoft.com/office/powerpoint/2010/main" val="18876993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txBody>
          <a:bodyPr/>
          <a:lstStyle/>
          <a:p>
            <a:endParaRPr lang="nl-NL"/>
          </a:p>
        </p:txBody>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5"/>
          </p:nvPr>
        </p:nvSpPr>
        <p:spPr/>
        <p:txBody>
          <a:bodyPr/>
          <a:lstStyle/>
          <a:p>
            <a:fld id="{24251DBA-13ED-4477-85C5-0600D0280FCD}" type="slidenum">
              <a:rPr lang="nl-NL" smtClean="0"/>
              <a:t>6</a:t>
            </a:fld>
            <a:endParaRPr lang="nl-NL"/>
          </a:p>
        </p:txBody>
      </p:sp>
    </p:spTree>
    <p:extLst>
      <p:ext uri="{BB962C8B-B14F-4D97-AF65-F5344CB8AC3E}">
        <p14:creationId xmlns:p14="http://schemas.microsoft.com/office/powerpoint/2010/main" val="29787630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en-US"/>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5" name="Footer Placeholder 4"/>
          <p:cNvSpPr>
            <a:spLocks noGrp="1"/>
          </p:cNvSpPr>
          <p:nvPr>
            <p:ph type="ftr" sz="quarter" idx="11"/>
          </p:nvPr>
        </p:nvSpPr>
        <p:spPr/>
        <p:txBody>
          <a:bodyPr/>
          <a:lstStyle/>
          <a:p>
            <a:endParaRPr lang="en-US" spc="50"/>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2801861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5" name="Footer Placeholder 4"/>
          <p:cNvSpPr>
            <a:spLocks noGrp="1"/>
          </p:cNvSpPr>
          <p:nvPr>
            <p:ph type="ftr" sz="quarter" idx="11"/>
          </p:nvPr>
        </p:nvSpPr>
        <p:spPr/>
        <p:txBody>
          <a:bodyPr/>
          <a:lstStyle/>
          <a:p>
            <a:endParaRPr lang="en-US" spc="50"/>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1899751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5" name="Footer Placeholder 4"/>
          <p:cNvSpPr>
            <a:spLocks noGrp="1"/>
          </p:cNvSpPr>
          <p:nvPr>
            <p:ph type="ftr" sz="quarter" idx="11"/>
          </p:nvPr>
        </p:nvSpPr>
        <p:spPr/>
        <p:txBody>
          <a:bodyPr/>
          <a:lstStyle/>
          <a:p>
            <a:endParaRPr lang="en-US" spc="50"/>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12859832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6" name="Footer Placeholder 5"/>
          <p:cNvSpPr>
            <a:spLocks noGrp="1"/>
          </p:cNvSpPr>
          <p:nvPr>
            <p:ph type="ftr" sz="quarter" idx="11"/>
          </p:nvPr>
        </p:nvSpPr>
        <p:spPr/>
        <p:txBody>
          <a:bodyPr/>
          <a:lstStyle/>
          <a:p>
            <a:endParaRPr lang="en-US" spc="50"/>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9677237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nl-NL"/>
              <a:t>Klik om stijl te bewerken</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Content Placeholder 3"/>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Content Placeholder 5"/>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7" name="Date Placeholder 6"/>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8" name="Footer Placeholder 7"/>
          <p:cNvSpPr>
            <a:spLocks noGrp="1"/>
          </p:cNvSpPr>
          <p:nvPr>
            <p:ph type="ftr" sz="quarter" idx="11"/>
          </p:nvPr>
        </p:nvSpPr>
        <p:spPr/>
        <p:txBody>
          <a:bodyPr/>
          <a:lstStyle/>
          <a:p>
            <a:endParaRPr lang="en-US" spc="50"/>
          </a:p>
        </p:txBody>
      </p:sp>
      <p:sp>
        <p:nvSpPr>
          <p:cNvPr id="9" name="Slide Number Placeholder 8"/>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15046562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Date Placeholder 2"/>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4" name="Footer Placeholder 3"/>
          <p:cNvSpPr>
            <a:spLocks noGrp="1"/>
          </p:cNvSpPr>
          <p:nvPr>
            <p:ph type="ftr" sz="quarter" idx="11"/>
          </p:nvPr>
        </p:nvSpPr>
        <p:spPr/>
        <p:txBody>
          <a:bodyPr/>
          <a:lstStyle/>
          <a:p>
            <a:endParaRPr lang="en-US" spc="50"/>
          </a:p>
        </p:txBody>
      </p:sp>
      <p:sp>
        <p:nvSpPr>
          <p:cNvPr id="5" name="Slide Number Placeholder 4"/>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41977210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3" name="Footer Placeholder 2"/>
          <p:cNvSpPr>
            <a:spLocks noGrp="1"/>
          </p:cNvSpPr>
          <p:nvPr>
            <p:ph type="ftr" sz="quarter" idx="11"/>
          </p:nvPr>
        </p:nvSpPr>
        <p:spPr/>
        <p:txBody>
          <a:bodyPr/>
          <a:lstStyle/>
          <a:p>
            <a:endParaRPr lang="en-US" spc="50"/>
          </a:p>
        </p:txBody>
      </p:sp>
      <p:sp>
        <p:nvSpPr>
          <p:cNvPr id="4" name="Slide Number Placeholder 3"/>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1752599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6" name="Footer Placeholder 5"/>
          <p:cNvSpPr>
            <a:spLocks noGrp="1"/>
          </p:cNvSpPr>
          <p:nvPr>
            <p:ph type="ftr" sz="quarter" idx="11"/>
          </p:nvPr>
        </p:nvSpPr>
        <p:spPr/>
        <p:txBody>
          <a:bodyPr/>
          <a:lstStyle/>
          <a:p>
            <a:endParaRPr lang="en-US" spc="50"/>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2594029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nl-NL"/>
              <a:t>Klik op het pictogram als u een afbeelding wilt toevoegen</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6" name="Footer Placeholder 5"/>
          <p:cNvSpPr>
            <a:spLocks noGrp="1"/>
          </p:cNvSpPr>
          <p:nvPr>
            <p:ph type="ftr" sz="quarter" idx="11"/>
          </p:nvPr>
        </p:nvSpPr>
        <p:spPr/>
        <p:txBody>
          <a:bodyPr/>
          <a:lstStyle/>
          <a:p>
            <a:endParaRPr lang="en-US" spc="50"/>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3335557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endParaRPr lang="en-US"/>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5" name="Footer Placeholder 4"/>
          <p:cNvSpPr>
            <a:spLocks noGrp="1"/>
          </p:cNvSpPr>
          <p:nvPr>
            <p:ph type="ftr" sz="quarter" idx="11"/>
          </p:nvPr>
        </p:nvSpPr>
        <p:spPr/>
        <p:txBody>
          <a:bodyPr/>
          <a:lstStyle/>
          <a:p>
            <a:endParaRPr lang="en-US" spc="50"/>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1220247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nl-NL"/>
              <a:t>Klik om stijl te bewerken</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5/8/2026</a:t>
            </a:fld>
            <a:endParaRPr lang="en-US" spc="50"/>
          </a:p>
        </p:txBody>
      </p:sp>
      <p:sp>
        <p:nvSpPr>
          <p:cNvPr id="5" name="Footer Placeholder 4"/>
          <p:cNvSpPr>
            <a:spLocks noGrp="1"/>
          </p:cNvSpPr>
          <p:nvPr>
            <p:ph type="ftr" sz="quarter" idx="11"/>
          </p:nvPr>
        </p:nvSpPr>
        <p:spPr/>
        <p:txBody>
          <a:bodyPr/>
          <a:lstStyle/>
          <a:p>
            <a:endParaRPr lang="en-US" spc="50"/>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1640841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lgn="r"/>
            <a:fld id="{A37D6D71-8B28-4ED6-B932-04B197003D23}" type="datetimeFigureOut">
              <a:rPr lang="en-US" smtClean="0"/>
              <a:pPr algn="r"/>
              <a:t>5/8/2026</a:t>
            </a:fld>
            <a:endParaRPr lang="en-US" spc="5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spc="5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lgn="l"/>
            <a:fld id="{F97E8200-1950-409B-82E7-99938E7AE355}" type="slidenum">
              <a:rPr lang="en-US" smtClean="0"/>
              <a:pPr algn="l"/>
              <a:t>‹#›</a:t>
            </a:fld>
            <a:endParaRPr lang="en-US"/>
          </a:p>
        </p:txBody>
      </p:sp>
    </p:spTree>
    <p:extLst>
      <p:ext uri="{BB962C8B-B14F-4D97-AF65-F5344CB8AC3E}">
        <p14:creationId xmlns:p14="http://schemas.microsoft.com/office/powerpoint/2010/main" val="2931736387"/>
      </p:ext>
    </p:extLst>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 id="2147483823" r:id="rId10"/>
    <p:sldLayoutId id="21474838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hogeschoolutrecht.sharepoint.com/:x:/s/ext_Diensten_powerbicommunity/IQBDUdkeLEAATaOJjNmSqd03AcxYO8bkyddMFuQjw9Il8Ow?email=kitty.vanamerongen%40hu.nl&amp;e=c09yAG"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hyperlink" Target="https://mavenanalytics.io/challenges/maven-olympics-challenge" TargetMode="External"/><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0.gif"/><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1D4F-6283-D426-C54D-398F14CA8D9D}"/>
            </a:ext>
          </a:extLst>
        </p:cNvPr>
        <p:cNvGrpSpPr/>
        <p:nvPr/>
      </p:nvGrpSpPr>
      <p:grpSpPr>
        <a:xfrm>
          <a:off x="0" y="0"/>
          <a:ext cx="0" cy="0"/>
          <a:chOff x="0" y="0"/>
          <a:chExt cx="0" cy="0"/>
        </a:xfrm>
      </p:grpSpPr>
      <p:sp>
        <p:nvSpPr>
          <p:cNvPr id="29" name="Rechthoek 28">
            <a:extLst>
              <a:ext uri="{FF2B5EF4-FFF2-40B4-BE49-F238E27FC236}">
                <a16:creationId xmlns:a16="http://schemas.microsoft.com/office/drawing/2014/main" id="{EA9028A1-7AD0-B378-3AD2-C01577BB1B93}"/>
              </a:ext>
            </a:extLst>
          </p:cNvPr>
          <p:cNvSpPr/>
          <p:nvPr/>
        </p:nvSpPr>
        <p:spPr>
          <a:xfrm>
            <a:off x="483994" y="385484"/>
            <a:ext cx="11708006" cy="412936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9" name="Afbeelding 18" descr="Afbeelding met zwart, duisternis&#10;&#10;Automatisch gegenereerde beschrijving">
            <a:extLst>
              <a:ext uri="{FF2B5EF4-FFF2-40B4-BE49-F238E27FC236}">
                <a16:creationId xmlns:a16="http://schemas.microsoft.com/office/drawing/2014/main" id="{C080757C-2CC2-CAC4-AC8E-07903BDC4B4D}"/>
              </a:ext>
            </a:extLst>
          </p:cNvPr>
          <p:cNvPicPr>
            <a:picLocks noChangeAspect="1"/>
          </p:cNvPicPr>
          <p:nvPr/>
        </p:nvPicPr>
        <p:blipFill rotWithShape="1">
          <a:blip r:embed="rId2">
            <a:lum bright="70000" contrast="-70000"/>
            <a:alphaModFix amt="20000"/>
            <a:extLst>
              <a:ext uri="{28A0092B-C50C-407E-A947-70E740481C1C}">
                <a14:useLocalDpi xmlns:a14="http://schemas.microsoft.com/office/drawing/2010/main" val="0"/>
              </a:ext>
            </a:extLst>
          </a:blip>
          <a:srcRect l="18870" t="2538" r="14958" b="21197"/>
          <a:stretch/>
        </p:blipFill>
        <p:spPr>
          <a:xfrm>
            <a:off x="61965" y="4890489"/>
            <a:ext cx="422029" cy="486397"/>
          </a:xfrm>
          <a:prstGeom prst="rect">
            <a:avLst/>
          </a:prstGeom>
        </p:spPr>
      </p:pic>
      <p:sp>
        <p:nvSpPr>
          <p:cNvPr id="23" name="Tekstvak 22">
            <a:extLst>
              <a:ext uri="{FF2B5EF4-FFF2-40B4-BE49-F238E27FC236}">
                <a16:creationId xmlns:a16="http://schemas.microsoft.com/office/drawing/2014/main" id="{0B91F113-F588-59ED-F2DB-79E49120F002}"/>
              </a:ext>
            </a:extLst>
          </p:cNvPr>
          <p:cNvSpPr txBox="1"/>
          <p:nvPr/>
        </p:nvSpPr>
        <p:spPr>
          <a:xfrm>
            <a:off x="663384" y="1161220"/>
            <a:ext cx="11008659" cy="5386090"/>
          </a:xfrm>
          <a:prstGeom prst="rect">
            <a:avLst/>
          </a:prstGeom>
          <a:noFill/>
        </p:spPr>
        <p:txBody>
          <a:bodyPr wrap="square" rtlCol="0">
            <a:spAutoFit/>
          </a:bodyPr>
          <a:lstStyle/>
          <a:p>
            <a:pPr lvl="0" defTabSz="914400" eaLnBrk="0" fontAlgn="base" hangingPunct="0">
              <a:spcBef>
                <a:spcPct val="0"/>
              </a:spcBef>
              <a:spcAft>
                <a:spcPct val="0"/>
              </a:spcAft>
            </a:pPr>
            <a:r>
              <a:rPr lang="nl-NL" altLang="nl-NL" sz="1200" b="1" dirty="0">
                <a:solidFill>
                  <a:srgbClr val="118EC0"/>
                </a:solidFill>
                <a:latin typeface="Lato" panose="020F0502020204030204" pitchFamily="34" charset="0"/>
              </a:rPr>
              <a:t>Het is eindelijk zover, de nieuwe </a:t>
            </a:r>
            <a:r>
              <a:rPr lang="en-US" sz="1200" b="1" dirty="0">
                <a:solidFill>
                  <a:srgbClr val="118EC0"/>
                </a:solidFill>
                <a:latin typeface="Lato" panose="020F0502020204030204" pitchFamily="34" charset="0"/>
              </a:rPr>
              <a:t>Datavisualisatie Challenge gaat van start!</a:t>
            </a:r>
            <a:endParaRPr lang="nl-NL" altLang="nl-NL" sz="1200" b="1" dirty="0">
              <a:solidFill>
                <a:srgbClr val="118EC0"/>
              </a:solidFill>
              <a:latin typeface="Lato" panose="020F0502020204030204" pitchFamily="34" charset="0"/>
            </a:endParaRPr>
          </a:p>
          <a:p>
            <a:pPr defTabSz="914400" eaLnBrk="0" fontAlgn="base" hangingPunct="0">
              <a:spcBef>
                <a:spcPct val="0"/>
              </a:spcBef>
              <a:spcAft>
                <a:spcPct val="0"/>
              </a:spcAft>
            </a:pPr>
            <a:endParaRPr lang="nl-NL" sz="1200" b="1" dirty="0">
              <a:solidFill>
                <a:srgbClr val="118EC0"/>
              </a:solidFill>
              <a:latin typeface="Lato" panose="020F0502020204030204" pitchFamily="34" charset="0"/>
            </a:endParaRPr>
          </a:p>
          <a:p>
            <a:pPr rtl="0"/>
            <a:endParaRPr lang="nl-NL" sz="1200" dirty="0">
              <a:solidFill>
                <a:srgbClr val="6E6E6E"/>
              </a:solidFill>
              <a:latin typeface="Lato"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lang="nl-NL" altLang="nl-NL" sz="1200" b="1" dirty="0">
                <a:solidFill>
                  <a:srgbClr val="118EC0"/>
                </a:solidFill>
                <a:latin typeface="Lato" panose="020F0502020204030204" pitchFamily="34" charset="0"/>
              </a:rPr>
            </a:br>
            <a:br>
              <a:rPr lang="nl-NL" altLang="nl-NL" sz="1200" b="1" dirty="0">
                <a:solidFill>
                  <a:srgbClr val="118EC0"/>
                </a:solidFill>
                <a:latin typeface="Lato" panose="020F0502020204030204" pitchFamily="34" charset="0"/>
              </a:rPr>
            </a:br>
            <a:endParaRPr lang="nl-NL" altLang="nl-NL" sz="1200" b="1" dirty="0">
              <a:solidFill>
                <a:srgbClr val="118EC0"/>
              </a:solidFill>
              <a:latin typeface="Lato"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nl-NL" altLang="nl-NL" sz="1200" b="1" dirty="0">
              <a:solidFill>
                <a:srgbClr val="118EC0"/>
              </a:solidFill>
              <a:latin typeface="Lato"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nl-NL" altLang="nl-NL" sz="1200" b="1" dirty="0">
              <a:solidFill>
                <a:srgbClr val="118EC0"/>
              </a:solidFill>
              <a:latin typeface="Lato"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nl-NL" altLang="nl-NL" sz="1200" b="1" dirty="0">
              <a:solidFill>
                <a:srgbClr val="118EC0"/>
              </a:solidFill>
              <a:latin typeface="Lato" panose="020F0502020204030204" pitchFamily="34" charset="0"/>
            </a:endParaRPr>
          </a:p>
          <a:p>
            <a:pPr defTabSz="914400" eaLnBrk="0" fontAlgn="base" hangingPunct="0">
              <a:spcBef>
                <a:spcPct val="0"/>
              </a:spcBef>
              <a:spcAft>
                <a:spcPct val="0"/>
              </a:spcAft>
            </a:pPr>
            <a:endParaRPr lang="nl-NL" altLang="nl-NL" sz="1200" b="1" dirty="0">
              <a:solidFill>
                <a:srgbClr val="118EC0"/>
              </a:solidFill>
              <a:latin typeface="Lato" panose="020F0502020204030204" pitchFamily="34" charset="0"/>
            </a:endParaRPr>
          </a:p>
          <a:p>
            <a:pPr defTabSz="914400" eaLnBrk="0" fontAlgn="base" hangingPunct="0">
              <a:spcBef>
                <a:spcPct val="0"/>
              </a:spcBef>
              <a:spcAft>
                <a:spcPct val="0"/>
              </a:spcAft>
            </a:pPr>
            <a:r>
              <a:rPr lang="nl-NL" altLang="nl-NL" sz="1200" b="1" dirty="0">
                <a:solidFill>
                  <a:srgbClr val="118EC0"/>
                </a:solidFill>
                <a:latin typeface="Lato" panose="020F0502020204030204" pitchFamily="34" charset="0"/>
              </a:rPr>
              <a:t>Ready, Set, Go ……</a:t>
            </a:r>
            <a:r>
              <a:rPr lang="nl-NL" altLang="nl-NL" sz="1200" dirty="0">
                <a:solidFill>
                  <a:srgbClr val="6E6E6E"/>
                </a:solidFill>
                <a:latin typeface="Lato" panose="020F0502020204030204" pitchFamily="34" charset="0"/>
              </a:rPr>
              <a:t>bundel je verbeeldingskracht en analytisch vermogen om een ​​interactief dashboard of visueel beeld samen te stellen, waarmee gebruikers de geschiedenis van de</a:t>
            </a:r>
            <a:r>
              <a:rPr lang="nl-NL" altLang="nl-NL" sz="2000" b="1" dirty="0">
                <a:solidFill>
                  <a:srgbClr val="4472C4"/>
                </a:solidFill>
                <a:latin typeface="Lato" panose="020F0502020204030204" pitchFamily="34" charset="0"/>
              </a:rPr>
              <a:t> </a:t>
            </a:r>
            <a:r>
              <a:rPr lang="nl-NL" altLang="nl-NL" sz="1400" b="1" dirty="0">
                <a:solidFill>
                  <a:srgbClr val="118EC0"/>
                </a:solidFill>
                <a:latin typeface="Lato" panose="020F0502020204030204" pitchFamily="34" charset="0"/>
              </a:rPr>
              <a:t>Olympische spelen </a:t>
            </a:r>
            <a:r>
              <a:rPr lang="nl-NL" altLang="nl-NL" sz="1200" dirty="0">
                <a:solidFill>
                  <a:srgbClr val="6E6E6E"/>
                </a:solidFill>
                <a:latin typeface="Lato" panose="020F0502020204030204" pitchFamily="34" charset="0"/>
              </a:rPr>
              <a:t>van Athene (1896) tot Rio (2016) kunnen verkennen. </a:t>
            </a:r>
          </a:p>
          <a:p>
            <a:pPr defTabSz="914400" eaLnBrk="0" fontAlgn="base" hangingPunct="0">
              <a:spcBef>
                <a:spcPct val="0"/>
              </a:spcBef>
              <a:spcAft>
                <a:spcPct val="0"/>
              </a:spcAft>
            </a:pPr>
            <a:r>
              <a:rPr lang="nl-NL" altLang="nl-NL" sz="1200" dirty="0">
                <a:solidFill>
                  <a:srgbClr val="6E6E6E"/>
                </a:solidFill>
                <a:latin typeface="Lato" panose="020F0502020204030204" pitchFamily="34" charset="0"/>
              </a:rPr>
              <a:t> </a:t>
            </a:r>
          </a:p>
          <a:p>
            <a:pPr defTabSz="914400" eaLnBrk="0" fontAlgn="base" hangingPunct="0">
              <a:spcBef>
                <a:spcPct val="0"/>
              </a:spcBef>
              <a:spcAft>
                <a:spcPct val="0"/>
              </a:spcAft>
            </a:pPr>
            <a:r>
              <a:rPr lang="en-US" sz="1200" b="1" i="0" dirty="0">
                <a:solidFill>
                  <a:srgbClr val="118EC0"/>
                </a:solidFill>
                <a:effectLst/>
                <a:latin typeface="Lato" panose="020F0502020204030204" pitchFamily="34" charset="0"/>
              </a:rPr>
              <a:t>Dataset</a:t>
            </a:r>
          </a:p>
          <a:p>
            <a:r>
              <a:rPr lang="en-US" sz="1200" dirty="0">
                <a:solidFill>
                  <a:srgbClr val="6E6E6E"/>
                </a:solidFill>
                <a:latin typeface="Lato" panose="020F0502020204030204" pitchFamily="34" charset="0"/>
              </a:rPr>
              <a:t>De dataset is te vinden op teams site Power BI Community - Channel Power BI Datavisualisatie Challenge</a:t>
            </a:r>
          </a:p>
          <a:p>
            <a:r>
              <a:rPr lang="en-US" sz="1200" dirty="0">
                <a:solidFill>
                  <a:srgbClr val="6E6E6E"/>
                </a:solidFill>
                <a:latin typeface="Lato" panose="020F0502020204030204" pitchFamily="34" charset="0"/>
              </a:rPr>
              <a:t>De data wordt zo opgeleverd dat modelleren niet nodig is.</a:t>
            </a:r>
          </a:p>
          <a:p>
            <a:endParaRPr lang="en-US" sz="1200" dirty="0">
              <a:solidFill>
                <a:srgbClr val="6E6E6E"/>
              </a:solidFill>
              <a:latin typeface="Lato" panose="020F0502020204030204" pitchFamily="34" charset="0"/>
            </a:endParaRPr>
          </a:p>
          <a:p>
            <a:pPr lvl="0" defTabSz="914400" eaLnBrk="0" fontAlgn="base" hangingPunct="0">
              <a:spcBef>
                <a:spcPct val="0"/>
              </a:spcBef>
              <a:spcAft>
                <a:spcPct val="0"/>
              </a:spcAft>
            </a:pPr>
            <a:r>
              <a:rPr lang="nl-NL" altLang="nl-NL" sz="1200" b="1" dirty="0">
                <a:solidFill>
                  <a:srgbClr val="118EC0"/>
                </a:solidFill>
                <a:latin typeface="Lato" panose="020F0502020204030204" pitchFamily="34" charset="0"/>
              </a:rPr>
              <a:t>Doel</a:t>
            </a:r>
          </a:p>
          <a:p>
            <a:r>
              <a:rPr lang="nl-NL" sz="1200" dirty="0">
                <a:solidFill>
                  <a:srgbClr val="6E6E6E"/>
                </a:solidFill>
                <a:latin typeface="Lato" panose="020F0502020204030204" pitchFamily="34" charset="0"/>
              </a:rPr>
              <a:t>Doel van de challenge is het oefenen en verbeteren van je skills, het leren van anderen en wellicht het inspireren van anderen. </a:t>
            </a:r>
          </a:p>
          <a:p>
            <a:r>
              <a:rPr lang="nl-NL" sz="1200" dirty="0">
                <a:solidFill>
                  <a:srgbClr val="6E6E6E"/>
                </a:solidFill>
                <a:latin typeface="Lato" panose="020F0502020204030204" pitchFamily="34" charset="0"/>
              </a:rPr>
              <a:t>Het is bedoeld voor iedereen die het leuk vind om bezig te zijn met het bouwen van dashboards en die zich verder wil ontwikkelen. </a:t>
            </a:r>
            <a:r>
              <a:rPr lang="nl-NL" sz="1200" b="1" dirty="0">
                <a:solidFill>
                  <a:srgbClr val="6E6E6E"/>
                </a:solidFill>
                <a:latin typeface="Lato" panose="020F0502020204030204" pitchFamily="34" charset="0"/>
              </a:rPr>
              <a:t>Meedoen is belangrijker dan winnen. </a:t>
            </a:r>
            <a:r>
              <a:rPr lang="nl-NL" sz="1200" dirty="0">
                <a:solidFill>
                  <a:srgbClr val="6E6E6E"/>
                </a:solidFill>
                <a:latin typeface="Lato" panose="020F0502020204030204" pitchFamily="34" charset="0"/>
              </a:rPr>
              <a:t>Zie het als een mooie kans om feedback te krijgen! Het hoeft geen fancy rapport te zijn of volledig af te zijn om mee te kunnen doen.</a:t>
            </a:r>
          </a:p>
          <a:p>
            <a:pPr marL="285750" indent="-285750">
              <a:buFont typeface="Wingdings" panose="05000000000000000000" pitchFamily="2" charset="2"/>
              <a:buChar char="§"/>
            </a:pPr>
            <a:endParaRPr lang="en-US" sz="1200" dirty="0">
              <a:solidFill>
                <a:srgbClr val="6E6E6E"/>
              </a:solidFill>
              <a:latin typeface="Lato" panose="020F0502020204030204" pitchFamily="34" charset="0"/>
            </a:endParaRPr>
          </a:p>
          <a:p>
            <a:pPr defTabSz="914400" eaLnBrk="0" fontAlgn="base" hangingPunct="0">
              <a:spcBef>
                <a:spcPct val="0"/>
              </a:spcBef>
              <a:spcAft>
                <a:spcPct val="0"/>
              </a:spcAft>
            </a:pPr>
            <a:r>
              <a:rPr lang="en-US" sz="1200" b="1" dirty="0">
                <a:solidFill>
                  <a:srgbClr val="118EC0"/>
                </a:solidFill>
                <a:latin typeface="Lato" panose="020F0502020204030204" pitchFamily="34" charset="0"/>
              </a:rPr>
              <a:t>Aanmelden</a:t>
            </a:r>
          </a:p>
          <a:p>
            <a:r>
              <a:rPr lang="en-US" sz="1200" dirty="0">
                <a:solidFill>
                  <a:srgbClr val="6E6E6E"/>
                </a:solidFill>
                <a:latin typeface="Lato" panose="020F0502020204030204" pitchFamily="34" charset="0"/>
              </a:rPr>
              <a:t>Als je mee wilt </a:t>
            </a:r>
            <a:r>
              <a:rPr lang="en-US" sz="1200" dirty="0" err="1">
                <a:solidFill>
                  <a:srgbClr val="6E6E6E"/>
                </a:solidFill>
                <a:latin typeface="Lato" panose="020F0502020204030204" pitchFamily="34" charset="0"/>
              </a:rPr>
              <a:t>doen</a:t>
            </a:r>
            <a:r>
              <a:rPr lang="en-US" sz="1200" dirty="0">
                <a:solidFill>
                  <a:srgbClr val="6E6E6E"/>
                </a:solidFill>
                <a:latin typeface="Lato" panose="020F0502020204030204" pitchFamily="34" charset="0"/>
              </a:rPr>
              <a:t> </a:t>
            </a:r>
            <a:r>
              <a:rPr lang="en-US" sz="1200" dirty="0" err="1">
                <a:solidFill>
                  <a:srgbClr val="6E6E6E"/>
                </a:solidFill>
                <a:latin typeface="Lato" panose="020F0502020204030204" pitchFamily="34" charset="0"/>
              </a:rPr>
              <a:t>kun</a:t>
            </a:r>
            <a:r>
              <a:rPr lang="en-US" sz="1200" dirty="0">
                <a:solidFill>
                  <a:srgbClr val="6E6E6E"/>
                </a:solidFill>
                <a:latin typeface="Lato" panose="020F0502020204030204" pitchFamily="34" charset="0"/>
              </a:rPr>
              <a:t> je </a:t>
            </a:r>
            <a:r>
              <a:rPr lang="en-US" sz="1200" dirty="0" err="1">
                <a:solidFill>
                  <a:srgbClr val="6E6E6E"/>
                </a:solidFill>
                <a:latin typeface="Lato" panose="020F0502020204030204" pitchFamily="34" charset="0"/>
              </a:rPr>
              <a:t>je</a:t>
            </a:r>
            <a:r>
              <a:rPr lang="en-US" sz="1200" dirty="0">
                <a:solidFill>
                  <a:srgbClr val="6E6E6E"/>
                </a:solidFill>
                <a:latin typeface="Lato" panose="020F0502020204030204" pitchFamily="34" charset="0"/>
              </a:rPr>
              <a:t> aanmelden door je te </a:t>
            </a:r>
            <a:r>
              <a:rPr lang="en-US" sz="1200" dirty="0" err="1">
                <a:solidFill>
                  <a:srgbClr val="6E6E6E"/>
                </a:solidFill>
                <a:latin typeface="Lato" panose="020F0502020204030204" pitchFamily="34" charset="0"/>
              </a:rPr>
              <a:t>registreren</a:t>
            </a:r>
            <a:r>
              <a:rPr lang="en-US" sz="1200" dirty="0">
                <a:solidFill>
                  <a:srgbClr val="6E6E6E"/>
                </a:solidFill>
                <a:latin typeface="Lato" panose="020F0502020204030204" pitchFamily="34" charset="0"/>
              </a:rPr>
              <a:t> </a:t>
            </a:r>
            <a:r>
              <a:rPr lang="en-US" sz="1200" dirty="0" err="1">
                <a:solidFill>
                  <a:srgbClr val="6E6E6E"/>
                </a:solidFill>
                <a:latin typeface="Lato" panose="020F0502020204030204" pitchFamily="34" charset="0"/>
              </a:rPr>
              <a:t>als</a:t>
            </a:r>
            <a:r>
              <a:rPr lang="en-US" sz="1200" dirty="0">
                <a:solidFill>
                  <a:srgbClr val="6E6E6E"/>
                </a:solidFill>
                <a:latin typeface="Lato" panose="020F0502020204030204" pitchFamily="34" charset="0"/>
              </a:rPr>
              <a:t> </a:t>
            </a:r>
            <a:r>
              <a:rPr lang="en-US" sz="1200" dirty="0" err="1">
                <a:solidFill>
                  <a:srgbClr val="6E6E6E"/>
                </a:solidFill>
                <a:latin typeface="Lato" panose="020F0502020204030204" pitchFamily="34" charset="0"/>
              </a:rPr>
              <a:t>deelnemer</a:t>
            </a:r>
            <a:r>
              <a:rPr lang="en-US" sz="1200" dirty="0">
                <a:solidFill>
                  <a:srgbClr val="6E6E6E"/>
                </a:solidFill>
                <a:latin typeface="Lato" panose="020F0502020204030204" pitchFamily="34" charset="0"/>
              </a:rPr>
              <a:t> in de </a:t>
            </a:r>
            <a:r>
              <a:rPr lang="en-US" sz="1200" dirty="0" err="1">
                <a:solidFill>
                  <a:srgbClr val="4472C4"/>
                </a:solidFill>
                <a:latin typeface="Lato" panose="020F0502020204030204" pitchFamily="34" charset="0"/>
                <a:hlinkClick r:id="rId3">
                  <a:extLst>
                    <a:ext uri="{A12FA001-AC4F-418D-AE19-62706E023703}">
                      <ahyp:hlinkClr xmlns:ahyp="http://schemas.microsoft.com/office/drawing/2018/hyperlinkcolor" val="tx"/>
                    </a:ext>
                  </a:extLst>
                </a:hlinkClick>
              </a:rPr>
              <a:t>Excellijst</a:t>
            </a:r>
            <a:r>
              <a:rPr lang="en-US" sz="1200" dirty="0">
                <a:solidFill>
                  <a:srgbClr val="4472C4"/>
                </a:solidFill>
                <a:latin typeface="Lato" panose="020F0502020204030204" pitchFamily="34" charset="0"/>
              </a:rPr>
              <a:t>.</a:t>
            </a:r>
            <a:r>
              <a:rPr lang="en-US" sz="1200" dirty="0">
                <a:solidFill>
                  <a:srgbClr val="6E6E6E"/>
                </a:solidFill>
                <a:latin typeface="Lato" panose="020F0502020204030204" pitchFamily="34" charset="0"/>
              </a:rPr>
              <a:t> Deze is </a:t>
            </a:r>
            <a:r>
              <a:rPr lang="en-US" sz="1200" dirty="0" err="1">
                <a:solidFill>
                  <a:srgbClr val="6E6E6E"/>
                </a:solidFill>
                <a:latin typeface="Lato" panose="020F0502020204030204" pitchFamily="34" charset="0"/>
              </a:rPr>
              <a:t>ook</a:t>
            </a:r>
            <a:r>
              <a:rPr lang="en-US" sz="1200" dirty="0">
                <a:solidFill>
                  <a:srgbClr val="6E6E6E"/>
                </a:solidFill>
                <a:latin typeface="Lato" panose="020F0502020204030204" pitchFamily="34" charset="0"/>
              </a:rPr>
              <a:t> te </a:t>
            </a:r>
            <a:r>
              <a:rPr lang="en-US" sz="1200" dirty="0" err="1">
                <a:solidFill>
                  <a:srgbClr val="6E6E6E"/>
                </a:solidFill>
                <a:latin typeface="Lato" panose="020F0502020204030204" pitchFamily="34" charset="0"/>
              </a:rPr>
              <a:t>vinden</a:t>
            </a:r>
            <a:r>
              <a:rPr lang="en-US" sz="1200" dirty="0">
                <a:solidFill>
                  <a:srgbClr val="6E6E6E"/>
                </a:solidFill>
                <a:latin typeface="Lato" panose="020F0502020204030204" pitchFamily="34" charset="0"/>
              </a:rPr>
              <a:t> </a:t>
            </a:r>
            <a:r>
              <a:rPr lang="en-US" sz="1200" dirty="0" err="1">
                <a:solidFill>
                  <a:srgbClr val="6E6E6E"/>
                </a:solidFill>
                <a:latin typeface="Lato" panose="020F0502020204030204" pitchFamily="34" charset="0"/>
              </a:rPr>
              <a:t>onder</a:t>
            </a:r>
            <a:r>
              <a:rPr lang="en-US" sz="1200" dirty="0">
                <a:solidFill>
                  <a:srgbClr val="6E6E6E"/>
                </a:solidFill>
                <a:latin typeface="Lato" panose="020F0502020204030204" pitchFamily="34" charset="0"/>
              </a:rPr>
              <a:t> de gedeelde documenten op teams site Power BI Community - Channel Power BI Datavisualisatie Challenge</a:t>
            </a:r>
          </a:p>
          <a:p>
            <a:pPr defTabSz="914400" eaLnBrk="0" fontAlgn="base" hangingPunct="0">
              <a:spcBef>
                <a:spcPct val="0"/>
              </a:spcBef>
              <a:spcAft>
                <a:spcPct val="0"/>
              </a:spcAft>
            </a:pPr>
            <a:endParaRPr lang="en-US" sz="1200" b="1" dirty="0">
              <a:solidFill>
                <a:srgbClr val="118EC0"/>
              </a:solidFill>
              <a:latin typeface="Lato" panose="020F0502020204030204" pitchFamily="34" charset="0"/>
            </a:endParaRPr>
          </a:p>
          <a:p>
            <a:pPr defTabSz="914400" eaLnBrk="0" fontAlgn="base" hangingPunct="0">
              <a:spcBef>
                <a:spcPct val="0"/>
              </a:spcBef>
              <a:spcAft>
                <a:spcPct val="0"/>
              </a:spcAft>
            </a:pPr>
            <a:r>
              <a:rPr lang="en-US" sz="1200" b="1" dirty="0" err="1">
                <a:solidFill>
                  <a:srgbClr val="118EC0"/>
                </a:solidFill>
                <a:latin typeface="Lato" panose="020F0502020204030204" pitchFamily="34" charset="0"/>
              </a:rPr>
              <a:t>Bijlage</a:t>
            </a:r>
            <a:endParaRPr lang="en-US" sz="1200" b="1" dirty="0">
              <a:solidFill>
                <a:srgbClr val="118EC0"/>
              </a:solidFill>
              <a:latin typeface="Lato" panose="020F0502020204030204" pitchFamily="34" charset="0"/>
            </a:endParaRPr>
          </a:p>
          <a:p>
            <a:r>
              <a:rPr lang="en-US" sz="1200" dirty="0" err="1">
                <a:solidFill>
                  <a:srgbClr val="6E6E6E"/>
                </a:solidFill>
                <a:latin typeface="Lato" panose="020F0502020204030204" pitchFamily="34" charset="0"/>
              </a:rPr>
              <a:t>Powerpoint</a:t>
            </a:r>
            <a:r>
              <a:rPr lang="en-US" sz="1200" dirty="0">
                <a:solidFill>
                  <a:srgbClr val="6E6E6E"/>
                </a:solidFill>
                <a:latin typeface="Lato" panose="020F0502020204030204" pitchFamily="34" charset="0"/>
              </a:rPr>
              <a:t> met alle ins en outs.</a:t>
            </a:r>
          </a:p>
        </p:txBody>
      </p:sp>
      <p:sp>
        <p:nvSpPr>
          <p:cNvPr id="24" name="Tekstvak 23">
            <a:extLst>
              <a:ext uri="{FF2B5EF4-FFF2-40B4-BE49-F238E27FC236}">
                <a16:creationId xmlns:a16="http://schemas.microsoft.com/office/drawing/2014/main" id="{64F20D91-87D6-B3B1-0653-1CF8E9DFBB93}"/>
              </a:ext>
            </a:extLst>
          </p:cNvPr>
          <p:cNvSpPr txBox="1"/>
          <p:nvPr/>
        </p:nvSpPr>
        <p:spPr>
          <a:xfrm>
            <a:off x="663384" y="624966"/>
            <a:ext cx="6147837" cy="461665"/>
          </a:xfrm>
          <a:prstGeom prst="rect">
            <a:avLst/>
          </a:prstGeom>
          <a:noFill/>
        </p:spPr>
        <p:txBody>
          <a:bodyPr wrap="none" rtlCol="0">
            <a:spAutoFit/>
          </a:bodyPr>
          <a:lstStyle/>
          <a:p>
            <a:r>
              <a:rPr lang="en-US" sz="2400" b="1" i="0" dirty="0">
                <a:solidFill>
                  <a:srgbClr val="118EC0"/>
                </a:solidFill>
                <a:effectLst/>
                <a:latin typeface="Lato" panose="020F0502020204030204" pitchFamily="34" charset="0"/>
              </a:rPr>
              <a:t>Startsein nieuwe Datavisualisatie Challenge</a:t>
            </a:r>
            <a:endParaRPr lang="en-US" sz="2400" b="1" dirty="0">
              <a:solidFill>
                <a:srgbClr val="118EC0"/>
              </a:solidFill>
              <a:latin typeface="Lato" panose="020F0502020204030204" pitchFamily="34" charset="0"/>
            </a:endParaRPr>
          </a:p>
        </p:txBody>
      </p:sp>
      <p:pic>
        <p:nvPicPr>
          <p:cNvPr id="2" name="Picture 6" descr="Olympic Sports Logos">
            <a:extLst>
              <a:ext uri="{FF2B5EF4-FFF2-40B4-BE49-F238E27FC236}">
                <a16:creationId xmlns:a16="http://schemas.microsoft.com/office/drawing/2014/main" id="{A9EA763A-6329-E2B7-A42D-0882A8B077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9806" y="1682260"/>
            <a:ext cx="1956798" cy="110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9256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Afbeelding 3" descr="Afbeelding met hemel, speeltuin, buitenshuis, schermopname&#10;&#10;Door AI gegenereerde inhoud is mogelijk onjuist.">
            <a:extLst>
              <a:ext uri="{FF2B5EF4-FFF2-40B4-BE49-F238E27FC236}">
                <a16:creationId xmlns:a16="http://schemas.microsoft.com/office/drawing/2014/main" id="{171CFD98-616C-726C-9C81-6A78FED3D3CA}"/>
              </a:ext>
            </a:extLst>
          </p:cNvPr>
          <p:cNvPicPr>
            <a:picLocks noChangeAspect="1"/>
          </p:cNvPicPr>
          <p:nvPr/>
        </p:nvPicPr>
        <p:blipFill>
          <a:blip r:embed="rId2">
            <a:extLst>
              <a:ext uri="{28A0092B-C50C-407E-A947-70E740481C1C}">
                <a14:useLocalDpi xmlns:a14="http://schemas.microsoft.com/office/drawing/2010/main" val="0"/>
              </a:ext>
            </a:extLst>
          </a:blip>
          <a:srcRect l="12077" t="9091" r="8923"/>
          <a:stretch>
            <a:fillRect/>
          </a:stretch>
        </p:blipFill>
        <p:spPr>
          <a:xfrm>
            <a:off x="3523488" y="10"/>
            <a:ext cx="8668512" cy="6857990"/>
          </a:xfrm>
          <a:prstGeom prst="rect">
            <a:avLst/>
          </a:prstGeom>
        </p:spPr>
      </p:pic>
      <p:sp>
        <p:nvSpPr>
          <p:cNvPr id="30" name="Rectangle 29">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el 1">
            <a:extLst>
              <a:ext uri="{FF2B5EF4-FFF2-40B4-BE49-F238E27FC236}">
                <a16:creationId xmlns:a16="http://schemas.microsoft.com/office/drawing/2014/main" id="{6AC646E4-A03A-9316-B17B-D358A399DF08}"/>
              </a:ext>
            </a:extLst>
          </p:cNvPr>
          <p:cNvSpPr>
            <a:spLocks noGrp="1"/>
          </p:cNvSpPr>
          <p:nvPr>
            <p:ph type="ctrTitle"/>
          </p:nvPr>
        </p:nvSpPr>
        <p:spPr>
          <a:xfrm>
            <a:off x="477981" y="1122363"/>
            <a:ext cx="4023360" cy="3204134"/>
          </a:xfrm>
        </p:spPr>
        <p:txBody>
          <a:bodyPr vert="horz" lIns="91440" tIns="45720" rIns="91440" bIns="45720" rtlCol="0" anchor="b">
            <a:normAutofit/>
          </a:bodyPr>
          <a:lstStyle/>
          <a:p>
            <a:pPr algn="l"/>
            <a:r>
              <a:rPr lang="en-US" sz="4800" b="1" dirty="0"/>
              <a:t>Challenge</a:t>
            </a:r>
            <a:br>
              <a:rPr lang="en-US" sz="4800" b="1" dirty="0"/>
            </a:br>
            <a:r>
              <a:rPr lang="en-US" sz="4800" b="1" dirty="0"/>
              <a:t>Datavisualisatie</a:t>
            </a:r>
          </a:p>
        </p:txBody>
      </p:sp>
      <p:sp>
        <p:nvSpPr>
          <p:cNvPr id="16" name="Tekstvak 15">
            <a:extLst>
              <a:ext uri="{FF2B5EF4-FFF2-40B4-BE49-F238E27FC236}">
                <a16:creationId xmlns:a16="http://schemas.microsoft.com/office/drawing/2014/main" id="{FF015B45-87DC-7ED8-4C23-4CEF37B186DD}"/>
              </a:ext>
            </a:extLst>
          </p:cNvPr>
          <p:cNvSpPr txBox="1"/>
          <p:nvPr/>
        </p:nvSpPr>
        <p:spPr>
          <a:xfrm>
            <a:off x="477980" y="4872922"/>
            <a:ext cx="4023359" cy="1208141"/>
          </a:xfrm>
          <a:prstGeom prst="rect">
            <a:avLst/>
          </a:prstGeom>
        </p:spPr>
        <p:txBody>
          <a:bodyPr vert="horz" lIns="91440" tIns="45720" rIns="91440" bIns="45720" rtlCol="0">
            <a:normAutofit/>
          </a:bodyPr>
          <a:lstStyle/>
          <a:p>
            <a:pPr defTabSz="914400">
              <a:lnSpc>
                <a:spcPct val="90000"/>
              </a:lnSpc>
              <a:spcBef>
                <a:spcPts val="1000"/>
              </a:spcBef>
            </a:pPr>
            <a:r>
              <a:rPr lang="en-US" sz="2000" b="1" dirty="0"/>
              <a:t>Startsein</a:t>
            </a:r>
          </a:p>
        </p:txBody>
      </p:sp>
      <p:sp>
        <p:nvSpPr>
          <p:cNvPr id="32" name="Rectangle 3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4" name="Rectangle 3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AutoShape 4" descr="Power Bi Vector Logo - Download Free SVG Icon | Worldvectorlogo">
            <a:extLst>
              <a:ext uri="{FF2B5EF4-FFF2-40B4-BE49-F238E27FC236}">
                <a16:creationId xmlns:a16="http://schemas.microsoft.com/office/drawing/2014/main" id="{2BA65E28-492A-2804-5727-DF3231B9D619}"/>
              </a:ext>
            </a:extLst>
          </p:cNvPr>
          <p:cNvSpPr>
            <a:spLocks noChangeAspect="1" noChangeArrowheads="1"/>
          </p:cNvSpPr>
          <p:nvPr/>
        </p:nvSpPr>
        <p:spPr bwMode="auto">
          <a:xfrm>
            <a:off x="3716385" y="3276599"/>
            <a:ext cx="2532015" cy="253201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nl-NL"/>
          </a:p>
        </p:txBody>
      </p:sp>
    </p:spTree>
    <p:extLst>
      <p:ext uri="{BB962C8B-B14F-4D97-AF65-F5344CB8AC3E}">
        <p14:creationId xmlns:p14="http://schemas.microsoft.com/office/powerpoint/2010/main" val="2529406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B75A7F-478E-60EA-6151-7B83918AC93C}"/>
            </a:ext>
          </a:extLst>
        </p:cNvPr>
        <p:cNvGrpSpPr/>
        <p:nvPr/>
      </p:nvGrpSpPr>
      <p:grpSpPr>
        <a:xfrm>
          <a:off x="0" y="0"/>
          <a:ext cx="0" cy="0"/>
          <a:chOff x="0" y="0"/>
          <a:chExt cx="0" cy="0"/>
        </a:xfrm>
      </p:grpSpPr>
      <p:sp>
        <p:nvSpPr>
          <p:cNvPr id="29" name="Rechthoek 28">
            <a:extLst>
              <a:ext uri="{FF2B5EF4-FFF2-40B4-BE49-F238E27FC236}">
                <a16:creationId xmlns:a16="http://schemas.microsoft.com/office/drawing/2014/main" id="{3C102126-3536-6D6D-27FD-016711F342A2}"/>
              </a:ext>
            </a:extLst>
          </p:cNvPr>
          <p:cNvSpPr/>
          <p:nvPr/>
        </p:nvSpPr>
        <p:spPr>
          <a:xfrm>
            <a:off x="483994" y="385484"/>
            <a:ext cx="11708006" cy="64725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9" name="Afbeelding 18" descr="Afbeelding met zwart, duisternis&#10;&#10;Automatisch gegenereerde beschrijving">
            <a:extLst>
              <a:ext uri="{FF2B5EF4-FFF2-40B4-BE49-F238E27FC236}">
                <a16:creationId xmlns:a16="http://schemas.microsoft.com/office/drawing/2014/main" id="{7FCF3032-38AE-9B1C-98A2-551052227707}"/>
              </a:ext>
            </a:extLst>
          </p:cNvPr>
          <p:cNvPicPr>
            <a:picLocks noChangeAspect="1"/>
          </p:cNvPicPr>
          <p:nvPr/>
        </p:nvPicPr>
        <p:blipFill rotWithShape="1">
          <a:blip r:embed="rId2">
            <a:lum bright="70000" contrast="-70000"/>
            <a:alphaModFix amt="20000"/>
            <a:extLst>
              <a:ext uri="{28A0092B-C50C-407E-A947-70E740481C1C}">
                <a14:useLocalDpi xmlns:a14="http://schemas.microsoft.com/office/drawing/2010/main" val="0"/>
              </a:ext>
            </a:extLst>
          </a:blip>
          <a:srcRect l="18870" t="2538" r="14958" b="21197"/>
          <a:stretch/>
        </p:blipFill>
        <p:spPr>
          <a:xfrm>
            <a:off x="61965" y="4890489"/>
            <a:ext cx="422029" cy="486397"/>
          </a:xfrm>
          <a:prstGeom prst="rect">
            <a:avLst/>
          </a:prstGeom>
        </p:spPr>
      </p:pic>
      <p:sp>
        <p:nvSpPr>
          <p:cNvPr id="23" name="Tekstvak 22">
            <a:extLst>
              <a:ext uri="{FF2B5EF4-FFF2-40B4-BE49-F238E27FC236}">
                <a16:creationId xmlns:a16="http://schemas.microsoft.com/office/drawing/2014/main" id="{8600E715-B8C6-9AE1-0241-6B747E355DBB}"/>
              </a:ext>
            </a:extLst>
          </p:cNvPr>
          <p:cNvSpPr txBox="1"/>
          <p:nvPr/>
        </p:nvSpPr>
        <p:spPr>
          <a:xfrm>
            <a:off x="663384" y="1326113"/>
            <a:ext cx="11008659" cy="498598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nl-NL" altLang="nl-NL" sz="1200" b="1" dirty="0">
                <a:solidFill>
                  <a:srgbClr val="118EC0"/>
                </a:solidFill>
                <a:latin typeface="Lato" panose="020F0502020204030204" pitchFamily="34" charset="0"/>
              </a:rPr>
              <a:t>Doel</a:t>
            </a:r>
          </a:p>
          <a:p>
            <a:pPr rtl="0"/>
            <a:r>
              <a:rPr lang="nl-NL" sz="1200" dirty="0">
                <a:solidFill>
                  <a:srgbClr val="6E6E6E"/>
                </a:solidFill>
                <a:latin typeface="Lato" panose="020F0502020204030204" pitchFamily="34" charset="0"/>
              </a:rPr>
              <a:t>Doel van de challenge is het oefenen en verbeteren van je skills, het leren van anderen en wellicht het inspireren van anderen. </a:t>
            </a:r>
          </a:p>
          <a:p>
            <a:pPr rtl="0"/>
            <a:r>
              <a:rPr lang="nl-NL" sz="1200" dirty="0">
                <a:solidFill>
                  <a:srgbClr val="6E6E6E"/>
                </a:solidFill>
                <a:latin typeface="Lato" panose="020F0502020204030204" pitchFamily="34" charset="0"/>
              </a:rPr>
              <a:t>Het is bedoeld voor iedereen die het leuk vind om bezig te zijn met het bouwen van dashboards en die zich verder wil ontwikkelen. Meedoen is belangrijker dan winnen, ook al gaat het om de olympische spelen. Zie het als een kans om feedback te krijgen! Het hoeft geen fancy rapport te zijn of volledig af te zijn om mee te kunnen doen.</a:t>
            </a:r>
          </a:p>
          <a:p>
            <a:pPr rtl="0"/>
            <a:endParaRPr lang="nl-NL" sz="1200" dirty="0">
              <a:solidFill>
                <a:srgbClr val="6E6E6E"/>
              </a:solidFill>
              <a:latin typeface="Lato" panose="020F050202020403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nl-NL" altLang="nl-NL" sz="1200" b="1" dirty="0">
                <a:solidFill>
                  <a:srgbClr val="118EC0"/>
                </a:solidFill>
                <a:latin typeface="Lato" panose="020F0502020204030204" pitchFamily="34" charset="0"/>
              </a:rPr>
              <a:t>Opdracht</a:t>
            </a:r>
          </a:p>
          <a:p>
            <a:pPr marL="0" marR="0" lvl="0" indent="0" algn="l" defTabSz="914400" rtl="0" eaLnBrk="0" fontAlgn="base" latinLnBrk="0" hangingPunct="0">
              <a:lnSpc>
                <a:spcPct val="100000"/>
              </a:lnSpc>
              <a:spcBef>
                <a:spcPct val="0"/>
              </a:spcBef>
              <a:spcAft>
                <a:spcPct val="0"/>
              </a:spcAft>
              <a:buClrTx/>
              <a:buSzTx/>
              <a:buFontTx/>
              <a:buNone/>
              <a:tabLst/>
            </a:pPr>
            <a:r>
              <a:rPr lang="nl-NL" altLang="nl-NL" sz="1200" dirty="0">
                <a:solidFill>
                  <a:srgbClr val="6E6E6E"/>
                </a:solidFill>
                <a:latin typeface="Lato" panose="020F0502020204030204" pitchFamily="34" charset="0"/>
              </a:rPr>
              <a:t>Bundel je verbeeldingskracht en analytisch vermogen om een ​​interactief dashboard of visueel beeld samen te stellen, waarmee gebruikers de geschiedenis van de Olympische spelen van Athene (1896) tot Rio (2016) kunnen verkennen. </a:t>
            </a:r>
          </a:p>
          <a:p>
            <a:pPr marL="0" marR="0" lvl="0" indent="0" algn="l" defTabSz="914400" rtl="0" eaLnBrk="0" fontAlgn="base" latinLnBrk="0" hangingPunct="0">
              <a:lnSpc>
                <a:spcPct val="100000"/>
              </a:lnSpc>
              <a:spcBef>
                <a:spcPct val="0"/>
              </a:spcBef>
              <a:spcAft>
                <a:spcPct val="0"/>
              </a:spcAft>
              <a:buClrTx/>
              <a:buSzTx/>
              <a:buFontTx/>
              <a:buNone/>
              <a:tabLst/>
            </a:pPr>
            <a:endParaRPr lang="nl-NL" altLang="nl-NL" sz="1200" dirty="0">
              <a:solidFill>
                <a:srgbClr val="6E6E6E"/>
              </a:solidFill>
              <a:latin typeface="Lato" panose="020F0502020204030204" pitchFamily="34" charset="0"/>
            </a:endParaRPr>
          </a:p>
          <a:p>
            <a:r>
              <a:rPr lang="en-US" sz="1200" b="1" i="0" dirty="0">
                <a:solidFill>
                  <a:srgbClr val="118EC0"/>
                </a:solidFill>
                <a:effectLst/>
                <a:latin typeface="Lato" panose="020F0502020204030204" pitchFamily="34" charset="0"/>
              </a:rPr>
              <a:t>Dataset</a:t>
            </a:r>
          </a:p>
          <a:p>
            <a:r>
              <a:rPr lang="en-US" sz="1200" dirty="0">
                <a:solidFill>
                  <a:srgbClr val="6E6E6E"/>
                </a:solidFill>
                <a:latin typeface="Lato" panose="020F0502020204030204" pitchFamily="34" charset="0"/>
              </a:rPr>
              <a:t>De dataset is vanaf 11 mei 2026 09:30 uur te vinden op </a:t>
            </a:r>
          </a:p>
          <a:p>
            <a:r>
              <a:rPr lang="en-US" sz="1200" dirty="0">
                <a:solidFill>
                  <a:srgbClr val="6E6E6E"/>
                </a:solidFill>
                <a:latin typeface="Lato" panose="020F0502020204030204" pitchFamily="34" charset="0"/>
              </a:rPr>
              <a:t>teams site Power BI Community - Channel Power BI Datavisualisatie Challenge</a:t>
            </a:r>
          </a:p>
          <a:p>
            <a:endParaRPr lang="en-US" sz="1200" dirty="0">
              <a:solidFill>
                <a:srgbClr val="6E6E6E"/>
              </a:solidFill>
              <a:latin typeface="Lato" panose="020F0502020204030204" pitchFamily="34" charset="0"/>
            </a:endParaRPr>
          </a:p>
          <a:p>
            <a:r>
              <a:rPr lang="en-US" sz="1200" dirty="0">
                <a:solidFill>
                  <a:srgbClr val="6E6E6E"/>
                </a:solidFill>
                <a:latin typeface="Lato" panose="020F0502020204030204" pitchFamily="34" charset="0"/>
              </a:rPr>
              <a:t>De dataset </a:t>
            </a:r>
            <a:r>
              <a:rPr lang="en-US" sz="1200" dirty="0" err="1">
                <a:solidFill>
                  <a:srgbClr val="6E6E6E"/>
                </a:solidFill>
                <a:latin typeface="Lato" panose="020F0502020204030204" pitchFamily="34" charset="0"/>
              </a:rPr>
              <a:t>bestaat</a:t>
            </a:r>
            <a:r>
              <a:rPr lang="en-US" sz="1200" dirty="0">
                <a:solidFill>
                  <a:srgbClr val="6E6E6E"/>
                </a:solidFill>
                <a:latin typeface="Lato" panose="020F0502020204030204" pitchFamily="34" charset="0"/>
              </a:rPr>
              <a:t> </a:t>
            </a:r>
            <a:r>
              <a:rPr lang="en-US" sz="1200" dirty="0" err="1">
                <a:solidFill>
                  <a:srgbClr val="6E6E6E"/>
                </a:solidFill>
                <a:latin typeface="Lato" panose="020F0502020204030204" pitchFamily="34" charset="0"/>
              </a:rPr>
              <a:t>uit</a:t>
            </a:r>
            <a:r>
              <a:rPr lang="en-US" sz="1200" dirty="0">
                <a:solidFill>
                  <a:srgbClr val="6E6E6E"/>
                </a:solidFill>
                <a:latin typeface="Lato" panose="020F0502020204030204" pitchFamily="34" charset="0"/>
              </a:rPr>
              <a:t> vier Excel (CSV) </a:t>
            </a:r>
            <a:r>
              <a:rPr lang="en-US" sz="1200" dirty="0" err="1">
                <a:solidFill>
                  <a:srgbClr val="6E6E6E"/>
                </a:solidFill>
                <a:latin typeface="Lato" panose="020F0502020204030204" pitchFamily="34" charset="0"/>
              </a:rPr>
              <a:t>bestanden</a:t>
            </a:r>
            <a:r>
              <a:rPr lang="en-US" sz="1200" dirty="0">
                <a:solidFill>
                  <a:srgbClr val="6E6E6E"/>
                </a:solidFill>
                <a:latin typeface="Lato" panose="020F0502020204030204" pitchFamily="34" charset="0"/>
              </a:rPr>
              <a:t> </a:t>
            </a:r>
          </a:p>
          <a:p>
            <a:pPr marL="285750" indent="-285750">
              <a:buFont typeface="Wingdings" panose="05000000000000000000" pitchFamily="2" charset="2"/>
              <a:buChar char="§"/>
            </a:pPr>
            <a:r>
              <a:rPr lang="en-US" sz="1200" dirty="0" err="1">
                <a:solidFill>
                  <a:srgbClr val="6E6E6E"/>
                </a:solidFill>
                <a:latin typeface="Lato" panose="020F0502020204030204" pitchFamily="34" charset="0"/>
              </a:rPr>
              <a:t>Athlete_events</a:t>
            </a:r>
            <a:endParaRPr lang="en-US" sz="1200" dirty="0">
              <a:solidFill>
                <a:srgbClr val="6E6E6E"/>
              </a:solidFill>
              <a:latin typeface="Lato" panose="020F0502020204030204" pitchFamily="34" charset="0"/>
            </a:endParaRPr>
          </a:p>
          <a:p>
            <a:pPr marL="285750" indent="-285750">
              <a:buFont typeface="Wingdings" panose="05000000000000000000" pitchFamily="2" charset="2"/>
              <a:buChar char="§"/>
            </a:pPr>
            <a:r>
              <a:rPr lang="en-US" sz="1200" dirty="0" err="1">
                <a:solidFill>
                  <a:srgbClr val="6E6E6E"/>
                </a:solidFill>
                <a:latin typeface="Lato" panose="020F0502020204030204" pitchFamily="34" charset="0"/>
              </a:rPr>
              <a:t>Athlete_events_data_dictionary</a:t>
            </a:r>
            <a:endParaRPr lang="en-US" sz="1200" dirty="0">
              <a:solidFill>
                <a:srgbClr val="6E6E6E"/>
              </a:solidFill>
              <a:latin typeface="Lato" panose="020F0502020204030204" pitchFamily="34" charset="0"/>
            </a:endParaRPr>
          </a:p>
          <a:p>
            <a:pPr marL="285750" indent="-285750">
              <a:buFont typeface="Wingdings" panose="05000000000000000000" pitchFamily="2" charset="2"/>
              <a:buChar char="§"/>
            </a:pPr>
            <a:r>
              <a:rPr lang="en-US" sz="1200" dirty="0" err="1">
                <a:solidFill>
                  <a:srgbClr val="6E6E6E"/>
                </a:solidFill>
                <a:latin typeface="Lato" panose="020F0502020204030204" pitchFamily="34" charset="0"/>
              </a:rPr>
              <a:t>Country_definitions</a:t>
            </a:r>
            <a:endParaRPr lang="en-US" sz="1200" dirty="0">
              <a:solidFill>
                <a:srgbClr val="6E6E6E"/>
              </a:solidFill>
              <a:latin typeface="Lato" panose="020F0502020204030204" pitchFamily="34" charset="0"/>
            </a:endParaRPr>
          </a:p>
          <a:p>
            <a:pPr marL="285750" indent="-285750">
              <a:buFont typeface="Wingdings" panose="05000000000000000000" pitchFamily="2" charset="2"/>
              <a:buChar char="§"/>
            </a:pPr>
            <a:r>
              <a:rPr lang="en-US" sz="1200" dirty="0" err="1">
                <a:solidFill>
                  <a:srgbClr val="6E6E6E"/>
                </a:solidFill>
                <a:latin typeface="Lato" panose="020F0502020204030204" pitchFamily="34" charset="0"/>
              </a:rPr>
              <a:t>Country_definitions_data_dictionary</a:t>
            </a:r>
            <a:endParaRPr lang="en-US" sz="1200" dirty="0">
              <a:solidFill>
                <a:srgbClr val="6E6E6E"/>
              </a:solidFill>
              <a:latin typeface="Lato" panose="020F0502020204030204" pitchFamily="34" charset="0"/>
            </a:endParaRPr>
          </a:p>
          <a:p>
            <a:endParaRPr lang="en-US" sz="1200" dirty="0">
              <a:solidFill>
                <a:srgbClr val="6E6E6E"/>
              </a:solidFill>
              <a:latin typeface="Lato" panose="020F0502020204030204" pitchFamily="34" charset="0"/>
            </a:endParaRPr>
          </a:p>
          <a:p>
            <a:pPr marL="285750" indent="-285750">
              <a:buFont typeface="Wingdings" panose="05000000000000000000" pitchFamily="2" charset="2"/>
              <a:buChar char="§"/>
            </a:pPr>
            <a:endParaRPr lang="en-US" sz="1200" dirty="0">
              <a:solidFill>
                <a:srgbClr val="6E6E6E"/>
              </a:solidFill>
              <a:latin typeface="Lato" panose="020F0502020204030204" pitchFamily="34" charset="0"/>
            </a:endParaRPr>
          </a:p>
          <a:p>
            <a:pPr marL="285750" indent="-285750">
              <a:buFont typeface="Wingdings" panose="05000000000000000000" pitchFamily="2" charset="2"/>
              <a:buChar char="§"/>
            </a:pPr>
            <a:endParaRPr lang="en-US" sz="1200" dirty="0">
              <a:solidFill>
                <a:srgbClr val="6E6E6E"/>
              </a:solidFill>
              <a:latin typeface="Lato" panose="020F0502020204030204" pitchFamily="34" charset="0"/>
            </a:endParaRPr>
          </a:p>
          <a:p>
            <a:endParaRPr lang="en-US" dirty="0">
              <a:solidFill>
                <a:srgbClr val="6E6E6E"/>
              </a:solidFill>
              <a:latin typeface="Lato" panose="020F0502020204030204" pitchFamily="34" charset="0"/>
            </a:endParaRPr>
          </a:p>
          <a:p>
            <a:endParaRPr lang="nl-NL" dirty="0"/>
          </a:p>
          <a:p>
            <a:endParaRPr lang="nl-NL" dirty="0"/>
          </a:p>
        </p:txBody>
      </p:sp>
      <p:sp>
        <p:nvSpPr>
          <p:cNvPr id="24" name="Tekstvak 23">
            <a:extLst>
              <a:ext uri="{FF2B5EF4-FFF2-40B4-BE49-F238E27FC236}">
                <a16:creationId xmlns:a16="http://schemas.microsoft.com/office/drawing/2014/main" id="{9FB13D41-5FCC-7EF8-CAEE-A5C6BF05D9F1}"/>
              </a:ext>
            </a:extLst>
          </p:cNvPr>
          <p:cNvSpPr txBox="1"/>
          <p:nvPr/>
        </p:nvSpPr>
        <p:spPr>
          <a:xfrm>
            <a:off x="663384" y="624966"/>
            <a:ext cx="3852337" cy="461665"/>
          </a:xfrm>
          <a:prstGeom prst="rect">
            <a:avLst/>
          </a:prstGeom>
          <a:noFill/>
        </p:spPr>
        <p:txBody>
          <a:bodyPr wrap="none" rtlCol="0">
            <a:spAutoFit/>
          </a:bodyPr>
          <a:lstStyle/>
          <a:p>
            <a:r>
              <a:rPr lang="en-US" sz="2400" b="1" i="0" dirty="0">
                <a:solidFill>
                  <a:srgbClr val="118EC0"/>
                </a:solidFill>
                <a:effectLst/>
                <a:latin typeface="Lato" panose="020F0502020204030204" pitchFamily="34" charset="0"/>
              </a:rPr>
              <a:t>Datavisualisatie Challenge</a:t>
            </a:r>
            <a:endParaRPr lang="en-US" sz="2400" b="1" dirty="0">
              <a:solidFill>
                <a:srgbClr val="118EC0"/>
              </a:solidFill>
              <a:latin typeface="Lato" panose="020F0502020204030204" pitchFamily="34" charset="0"/>
            </a:endParaRPr>
          </a:p>
        </p:txBody>
      </p:sp>
      <p:pic>
        <p:nvPicPr>
          <p:cNvPr id="4" name="Afbeelding 3" descr="Afbeelding met tekst, elektronica, schermopname, Webpagina&#10;&#10;Door AI gegenereerde inhoud is mogelijk onjuist.">
            <a:extLst>
              <a:ext uri="{FF2B5EF4-FFF2-40B4-BE49-F238E27FC236}">
                <a16:creationId xmlns:a16="http://schemas.microsoft.com/office/drawing/2014/main" id="{D2B42FF7-1289-A2B9-7815-9B4BF692050B}"/>
              </a:ext>
            </a:extLst>
          </p:cNvPr>
          <p:cNvPicPr>
            <a:picLocks noChangeAspect="1"/>
          </p:cNvPicPr>
          <p:nvPr/>
        </p:nvPicPr>
        <p:blipFill>
          <a:blip r:embed="rId3"/>
          <a:srcRect b="14464"/>
          <a:stretch>
            <a:fillRect/>
          </a:stretch>
        </p:blipFill>
        <p:spPr>
          <a:xfrm>
            <a:off x="6696628" y="3140294"/>
            <a:ext cx="5235394" cy="3500389"/>
          </a:xfrm>
          <a:prstGeom prst="rect">
            <a:avLst/>
          </a:prstGeom>
          <a:ln>
            <a:solidFill>
              <a:schemeClr val="accent1"/>
            </a:solidFill>
          </a:ln>
        </p:spPr>
      </p:pic>
      <p:pic>
        <p:nvPicPr>
          <p:cNvPr id="5" name="Picture 6" descr="Olympic Sports Logos">
            <a:extLst>
              <a:ext uri="{FF2B5EF4-FFF2-40B4-BE49-F238E27FC236}">
                <a16:creationId xmlns:a16="http://schemas.microsoft.com/office/drawing/2014/main" id="{0EAFE098-8818-F734-CF95-9DE0F7B360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7456" y="228049"/>
            <a:ext cx="1956798" cy="110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4179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C2337-756C-3D78-4D7C-D86C0DAC70E7}"/>
            </a:ext>
          </a:extLst>
        </p:cNvPr>
        <p:cNvGrpSpPr/>
        <p:nvPr/>
      </p:nvGrpSpPr>
      <p:grpSpPr>
        <a:xfrm>
          <a:off x="0" y="0"/>
          <a:ext cx="0" cy="0"/>
          <a:chOff x="0" y="0"/>
          <a:chExt cx="0" cy="0"/>
        </a:xfrm>
      </p:grpSpPr>
      <p:pic>
        <p:nvPicPr>
          <p:cNvPr id="19" name="Afbeelding 18" descr="Afbeelding met zwart, duisternis&#10;&#10;Automatisch gegenereerde beschrijving">
            <a:extLst>
              <a:ext uri="{FF2B5EF4-FFF2-40B4-BE49-F238E27FC236}">
                <a16:creationId xmlns:a16="http://schemas.microsoft.com/office/drawing/2014/main" id="{7ECF80C5-B84B-C991-93BD-E626284CC0B7}"/>
              </a:ext>
            </a:extLst>
          </p:cNvPr>
          <p:cNvPicPr>
            <a:picLocks noChangeAspect="1"/>
          </p:cNvPicPr>
          <p:nvPr/>
        </p:nvPicPr>
        <p:blipFill rotWithShape="1">
          <a:blip r:embed="rId2">
            <a:lum bright="70000" contrast="-70000"/>
            <a:alphaModFix amt="20000"/>
            <a:extLst>
              <a:ext uri="{28A0092B-C50C-407E-A947-70E740481C1C}">
                <a14:useLocalDpi xmlns:a14="http://schemas.microsoft.com/office/drawing/2010/main" val="0"/>
              </a:ext>
            </a:extLst>
          </a:blip>
          <a:srcRect l="18870" t="2538" r="14958" b="21197"/>
          <a:stretch/>
        </p:blipFill>
        <p:spPr>
          <a:xfrm>
            <a:off x="61965" y="4890489"/>
            <a:ext cx="422029" cy="486397"/>
          </a:xfrm>
          <a:prstGeom prst="rect">
            <a:avLst/>
          </a:prstGeom>
        </p:spPr>
      </p:pic>
      <p:sp>
        <p:nvSpPr>
          <p:cNvPr id="23" name="Tekstvak 22">
            <a:extLst>
              <a:ext uri="{FF2B5EF4-FFF2-40B4-BE49-F238E27FC236}">
                <a16:creationId xmlns:a16="http://schemas.microsoft.com/office/drawing/2014/main" id="{037C997E-A12D-B88E-3E81-FB1D5AA0DCBA}"/>
              </a:ext>
            </a:extLst>
          </p:cNvPr>
          <p:cNvSpPr txBox="1"/>
          <p:nvPr/>
        </p:nvSpPr>
        <p:spPr>
          <a:xfrm>
            <a:off x="663388" y="873134"/>
            <a:ext cx="11008659" cy="5632311"/>
          </a:xfrm>
          <a:prstGeom prst="rect">
            <a:avLst/>
          </a:prstGeom>
          <a:noFill/>
        </p:spPr>
        <p:txBody>
          <a:bodyPr wrap="square" rtlCol="0">
            <a:spAutoFit/>
          </a:bodyPr>
          <a:lstStyle/>
          <a:p>
            <a:pPr marR="0" lvl="0" algn="l" defTabSz="914400" rtl="0" eaLnBrk="0" fontAlgn="base" latinLnBrk="0" hangingPunct="0">
              <a:lnSpc>
                <a:spcPct val="100000"/>
              </a:lnSpc>
              <a:spcBef>
                <a:spcPct val="0"/>
              </a:spcBef>
              <a:spcAft>
                <a:spcPct val="0"/>
              </a:spcAft>
              <a:buClrTx/>
              <a:buSzTx/>
              <a:tabLst/>
            </a:pPr>
            <a:r>
              <a:rPr lang="nl-NL" altLang="nl-NL" sz="1200" b="1" dirty="0">
                <a:solidFill>
                  <a:srgbClr val="118EC0"/>
                </a:solidFill>
                <a:latin typeface="Lato" panose="020F0502020204030204" pitchFamily="34" charset="0"/>
              </a:rPr>
              <a:t>Dashboard</a:t>
            </a:r>
          </a:p>
          <a:p>
            <a:pPr marR="0" lvl="0" algn="l" defTabSz="914400" rtl="0" eaLnBrk="0" fontAlgn="base" latinLnBrk="0" hangingPunct="0">
              <a:lnSpc>
                <a:spcPct val="100000"/>
              </a:lnSpc>
              <a:spcBef>
                <a:spcPct val="0"/>
              </a:spcBef>
              <a:spcAft>
                <a:spcPct val="0"/>
              </a:spcAft>
              <a:buClrTx/>
              <a:buSzTx/>
              <a:tabLst/>
            </a:pPr>
            <a:endParaRPr lang="nl-NL" altLang="nl-NL" sz="1200" b="1" dirty="0">
              <a:solidFill>
                <a:srgbClr val="118EC0"/>
              </a:solidFill>
              <a:latin typeface="Lato"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nl-NL" altLang="nl-NL" sz="1200" dirty="0">
                <a:solidFill>
                  <a:srgbClr val="6E6E6E"/>
                </a:solidFill>
                <a:latin typeface="Lato" panose="020F0502020204030204" pitchFamily="34" charset="0"/>
              </a:rPr>
              <a:t>De dataset is vanaf maandag 11 mei 2026 9:30 uur beschikbaar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lang="nl-NL" altLang="nl-NL" sz="1200" dirty="0">
                <a:solidFill>
                  <a:srgbClr val="6E6E6E"/>
                </a:solidFill>
                <a:latin typeface="Lato" panose="020F0502020204030204" pitchFamily="34" charset="0"/>
              </a:rPr>
              <a:t>Gedurende de periode 11 mei tot en met 1 juni 2026 heb je de tijd om een interactief dashboard op te leveren die voldoet aan de omschreven opdracht.</a:t>
            </a:r>
          </a:p>
          <a:p>
            <a:pPr marL="28575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Gedurende deze periode is ook een hulplijn beschikbaar d.m.v. een teams-</a:t>
            </a:r>
            <a:r>
              <a:rPr lang="nl-NL" altLang="nl-NL" sz="1200" dirty="0" err="1">
                <a:solidFill>
                  <a:srgbClr val="6E6E6E"/>
                </a:solidFill>
                <a:latin typeface="Lato" panose="020F0502020204030204" pitchFamily="34" charset="0"/>
              </a:rPr>
              <a:t>channel</a:t>
            </a:r>
            <a:r>
              <a:rPr lang="nl-NL" altLang="nl-NL" sz="1200" dirty="0">
                <a:solidFill>
                  <a:srgbClr val="6E6E6E"/>
                </a:solidFill>
                <a:latin typeface="Lato" panose="020F0502020204030204" pitchFamily="34" charset="0"/>
              </a:rPr>
              <a:t>, waar je terecht kunt voor allerlei vragen over de challenge, Power BI, </a:t>
            </a:r>
            <a:r>
              <a:rPr lang="nl-NL" altLang="nl-NL" sz="1200" dirty="0" err="1">
                <a:solidFill>
                  <a:srgbClr val="6E6E6E"/>
                </a:solidFill>
                <a:latin typeface="Lato" panose="020F0502020204030204" pitchFamily="34" charset="0"/>
              </a:rPr>
              <a:t>Dax</a:t>
            </a:r>
            <a:r>
              <a:rPr lang="nl-NL" altLang="nl-NL" sz="1200" dirty="0">
                <a:solidFill>
                  <a:srgbClr val="6E6E6E"/>
                </a:solidFill>
                <a:latin typeface="Lato" panose="020F0502020204030204" pitchFamily="34" charset="0"/>
              </a:rPr>
              <a:t> formules, problemen met inladen van de data, etc.  Door een bericht te plaatsen in de </a:t>
            </a:r>
            <a:r>
              <a:rPr lang="nl-NL" altLang="nl-NL" sz="1200" dirty="0" err="1">
                <a:solidFill>
                  <a:srgbClr val="6E6E6E"/>
                </a:solidFill>
                <a:latin typeface="Lato" panose="020F0502020204030204" pitchFamily="34" charset="0"/>
              </a:rPr>
              <a:t>channel</a:t>
            </a:r>
            <a:r>
              <a:rPr lang="nl-NL" altLang="nl-NL" sz="1200" dirty="0">
                <a:solidFill>
                  <a:srgbClr val="6E6E6E"/>
                </a:solidFill>
                <a:latin typeface="Lato" panose="020F0502020204030204" pitchFamily="34" charset="0"/>
              </a:rPr>
              <a:t> “Power BI Datavisualisatie Challenge” van teams site “Power BI Community” schakel je automatisch de hulplijn in. Alle deelnemers kunnen dan ook meelezen met de gestelde vragen. </a:t>
            </a:r>
          </a:p>
          <a:p>
            <a:pPr marL="28575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De Olympische spelen dataset is afkomstig van de </a:t>
            </a:r>
            <a:r>
              <a:rPr lang="nl-NL" altLang="nl-NL" sz="1200" dirty="0" err="1">
                <a:solidFill>
                  <a:srgbClr val="6E6E6E"/>
                </a:solidFill>
                <a:latin typeface="Lato" panose="020F0502020204030204" pitchFamily="34" charset="0"/>
              </a:rPr>
              <a:t>Maven</a:t>
            </a:r>
            <a:r>
              <a:rPr lang="nl-NL" altLang="nl-NL" sz="1200" dirty="0">
                <a:solidFill>
                  <a:srgbClr val="6E6E6E"/>
                </a:solidFill>
                <a:latin typeface="Lato" panose="020F0502020204030204" pitchFamily="34" charset="0"/>
              </a:rPr>
              <a:t> Analytics website. Hier zijn ook voorbeelden te vinden van anderen die deze challenge al eens hebben gedaan. </a:t>
            </a:r>
            <a:r>
              <a:rPr lang="nl-NL" sz="1200" dirty="0" err="1">
                <a:hlinkClick r:id="rId3"/>
              </a:rPr>
              <a:t>Maven</a:t>
            </a:r>
            <a:r>
              <a:rPr lang="nl-NL" sz="1200" dirty="0">
                <a:hlinkClick r:id="rId3"/>
              </a:rPr>
              <a:t> </a:t>
            </a:r>
            <a:r>
              <a:rPr lang="nl-NL" sz="1200" dirty="0" err="1">
                <a:hlinkClick r:id="rId3"/>
              </a:rPr>
              <a:t>Olympics</a:t>
            </a:r>
            <a:r>
              <a:rPr lang="nl-NL" sz="1200" dirty="0">
                <a:hlinkClick r:id="rId3"/>
              </a:rPr>
              <a:t> Challenge - Data </a:t>
            </a:r>
            <a:r>
              <a:rPr lang="nl-NL" sz="1200" dirty="0" err="1">
                <a:hlinkClick r:id="rId3"/>
              </a:rPr>
              <a:t>Challnge</a:t>
            </a:r>
            <a:r>
              <a:rPr lang="nl-NL" sz="1200" dirty="0">
                <a:hlinkClick r:id="rId3"/>
              </a:rPr>
              <a:t> </a:t>
            </a:r>
            <a:r>
              <a:rPr lang="nl-NL" sz="1200" dirty="0" err="1">
                <a:hlinkClick r:id="rId3"/>
              </a:rPr>
              <a:t>by</a:t>
            </a:r>
            <a:r>
              <a:rPr lang="nl-NL" sz="1200" dirty="0">
                <a:hlinkClick r:id="rId3"/>
              </a:rPr>
              <a:t> </a:t>
            </a:r>
            <a:r>
              <a:rPr lang="nl-NL" sz="1200" dirty="0" err="1">
                <a:hlinkClick r:id="rId3"/>
              </a:rPr>
              <a:t>Maven</a:t>
            </a:r>
            <a:r>
              <a:rPr lang="nl-NL" sz="1200" dirty="0">
                <a:hlinkClick r:id="rId3"/>
              </a:rPr>
              <a:t> Analytics | Build Data Skills, </a:t>
            </a:r>
            <a:r>
              <a:rPr lang="nl-NL" sz="1200" dirty="0" err="1">
                <a:hlinkClick r:id="rId3"/>
              </a:rPr>
              <a:t>Faster</a:t>
            </a:r>
            <a:endParaRPr lang="nl-NL" altLang="nl-NL" sz="1200" u="sng" dirty="0">
              <a:solidFill>
                <a:srgbClr val="6E6E6E"/>
              </a:solidFill>
              <a:latin typeface="Lato" panose="020F0502020204030204" pitchFamily="34" charset="0"/>
            </a:endParaRPr>
          </a:p>
          <a:p>
            <a:pPr marL="28575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De dataset is volledig gratis en voor iedereen beschikbaar om mee te leren.</a:t>
            </a:r>
          </a:p>
          <a:p>
            <a:pPr marL="285750" indent="-285750" defTabSz="914400" eaLnBrk="0" fontAlgn="base" hangingPunct="0">
              <a:spcBef>
                <a:spcPct val="0"/>
              </a:spcBef>
              <a:spcAft>
                <a:spcPct val="0"/>
              </a:spcAft>
              <a:buFont typeface="Wingdings" panose="05000000000000000000" pitchFamily="2" charset="2"/>
              <a:buChar char="§"/>
            </a:pPr>
            <a:r>
              <a:rPr lang="en-US" sz="1200" dirty="0">
                <a:solidFill>
                  <a:srgbClr val="6E6E6E"/>
                </a:solidFill>
                <a:latin typeface="Lato" panose="020F0502020204030204" pitchFamily="34" charset="0"/>
              </a:rPr>
              <a:t>De data word zo opgeleverd dat modelleren niet nodig is.</a:t>
            </a:r>
          </a:p>
          <a:p>
            <a:pPr marL="28575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Het is niet de bedoeling dat je naast de aangeleverde dataset nog extra data importeert, zodat iedereen aan de slag gaat met dezelfde data.</a:t>
            </a:r>
          </a:p>
          <a:p>
            <a:pPr marL="28575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Het hoeft </a:t>
            </a:r>
            <a:r>
              <a:rPr lang="nl-NL" altLang="nl-NL" sz="1200" b="1" dirty="0">
                <a:solidFill>
                  <a:srgbClr val="6E6E6E"/>
                </a:solidFill>
                <a:latin typeface="Lato" panose="020F0502020204030204" pitchFamily="34" charset="0"/>
              </a:rPr>
              <a:t>geen </a:t>
            </a:r>
            <a:r>
              <a:rPr lang="nl-NL" altLang="nl-NL" sz="1200" dirty="0">
                <a:solidFill>
                  <a:srgbClr val="6E6E6E"/>
                </a:solidFill>
                <a:latin typeface="Lato" panose="020F0502020204030204" pitchFamily="34" charset="0"/>
              </a:rPr>
              <a:t>HU dashboard te worden, dus ga lekker los met je ontwerp.</a:t>
            </a:r>
          </a:p>
          <a:p>
            <a:pPr defTabSz="914400" eaLnBrk="0" fontAlgn="base" hangingPunct="0">
              <a:spcBef>
                <a:spcPct val="0"/>
              </a:spcBef>
              <a:spcAft>
                <a:spcPct val="0"/>
              </a:spcAft>
            </a:pPr>
            <a:endParaRPr lang="nl-NL" altLang="nl-NL" sz="1200" b="1" dirty="0">
              <a:solidFill>
                <a:srgbClr val="118EC0"/>
              </a:solidFill>
              <a:latin typeface="Lato" panose="020F0502020204030204" pitchFamily="34" charset="0"/>
            </a:endParaRPr>
          </a:p>
          <a:p>
            <a:pPr defTabSz="914400" eaLnBrk="0" fontAlgn="base" hangingPunct="0">
              <a:spcBef>
                <a:spcPct val="0"/>
              </a:spcBef>
              <a:spcAft>
                <a:spcPct val="0"/>
              </a:spcAft>
            </a:pPr>
            <a:r>
              <a:rPr lang="nl-NL" altLang="nl-NL" sz="1200" b="1" dirty="0">
                <a:solidFill>
                  <a:srgbClr val="118EC0"/>
                </a:solidFill>
                <a:latin typeface="Lato" panose="020F0502020204030204" pitchFamily="34" charset="0"/>
              </a:rPr>
              <a:t>Inleveren</a:t>
            </a:r>
          </a:p>
          <a:p>
            <a:pPr defTabSz="914400" eaLnBrk="0" fontAlgn="base" hangingPunct="0">
              <a:spcBef>
                <a:spcPct val="0"/>
              </a:spcBef>
              <a:spcAft>
                <a:spcPct val="0"/>
              </a:spcAft>
            </a:pPr>
            <a:endParaRPr lang="nl-NL" altLang="nl-NL" sz="1200" dirty="0">
              <a:solidFill>
                <a:srgbClr val="6E6E6E"/>
              </a:solidFill>
              <a:latin typeface="Lato" panose="020F0502020204030204" pitchFamily="34" charset="0"/>
            </a:endParaRPr>
          </a:p>
          <a:p>
            <a:pPr marL="28575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Inleveren van je inschrijving kan tot uiterlijk maandag 1 juni 2026 17:00 uur. Alle inzendingen die later zijn ingediend worden niet beoordeeld door de jury.</a:t>
            </a:r>
          </a:p>
          <a:p>
            <a:pPr marL="285750" lvl="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Je kunt je inschrijving als volgt inleveren:</a:t>
            </a:r>
          </a:p>
          <a:p>
            <a:pPr marL="742950" lvl="1"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Ga naar </a:t>
            </a:r>
            <a:r>
              <a:rPr lang="en-US" sz="1200" dirty="0">
                <a:solidFill>
                  <a:srgbClr val="6E6E6E"/>
                </a:solidFill>
                <a:latin typeface="Lato" panose="020F0502020204030204" pitchFamily="34" charset="0"/>
              </a:rPr>
              <a:t>teams site Power BI Community - Channel Power BI Datavisualisatie Challenge </a:t>
            </a:r>
          </a:p>
          <a:p>
            <a:pPr marL="742950" lvl="1"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Plaats hier in de tab “berichten” een bericht met een screenshot van je dashboard </a:t>
            </a:r>
          </a:p>
          <a:p>
            <a:pPr marL="742950" lvl="1"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Publiceer de desktop versie van je dashboard naar de Power BI workspace “</a:t>
            </a:r>
            <a:r>
              <a:rPr lang="nl-NL" sz="1200" dirty="0">
                <a:solidFill>
                  <a:srgbClr val="6E6E6E"/>
                </a:solidFill>
                <a:latin typeface="Lato" panose="020F0502020204030204" pitchFamily="34" charset="0"/>
              </a:rPr>
              <a:t>Challenge Datavisualisatie”. </a:t>
            </a:r>
          </a:p>
          <a:p>
            <a:pPr marL="742950" lvl="1" indent="-285750" defTabSz="914400" eaLnBrk="0" fontAlgn="base" hangingPunct="0">
              <a:spcBef>
                <a:spcPct val="0"/>
              </a:spcBef>
              <a:spcAft>
                <a:spcPct val="0"/>
              </a:spcAft>
              <a:buFont typeface="Wingdings" panose="05000000000000000000" pitchFamily="2" charset="2"/>
              <a:buChar char="§"/>
            </a:pPr>
            <a:r>
              <a:rPr lang="nl-NL" sz="1200" dirty="0">
                <a:solidFill>
                  <a:srgbClr val="6E6E6E"/>
                </a:solidFill>
                <a:latin typeface="Lato" panose="020F0502020204030204" pitchFamily="34" charset="0"/>
              </a:rPr>
              <a:t>Let op: zorg dat je naam in de titel van je dashboard verwerkt zit.</a:t>
            </a:r>
          </a:p>
          <a:p>
            <a:pPr marL="742950" lvl="1"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Heb je onder de motorkap iets moois in DAX gebouwd en wil je dat laten zien? Lever dan ook het .</a:t>
            </a:r>
            <a:r>
              <a:rPr lang="nl-NL" altLang="nl-NL" sz="1200" dirty="0" err="1">
                <a:solidFill>
                  <a:srgbClr val="6E6E6E"/>
                </a:solidFill>
                <a:latin typeface="Lato" panose="020F0502020204030204" pitchFamily="34" charset="0"/>
              </a:rPr>
              <a:t>pbix</a:t>
            </a:r>
            <a:r>
              <a:rPr lang="nl-NL" altLang="nl-NL" sz="1200" dirty="0">
                <a:solidFill>
                  <a:srgbClr val="6E6E6E"/>
                </a:solidFill>
                <a:latin typeface="Lato" panose="020F0502020204030204" pitchFamily="34" charset="0"/>
              </a:rPr>
              <a:t> bestand aan via het </a:t>
            </a:r>
            <a:r>
              <a:rPr lang="nl-NL" altLang="nl-NL" sz="1200" dirty="0" err="1">
                <a:solidFill>
                  <a:srgbClr val="6E6E6E"/>
                </a:solidFill>
                <a:latin typeface="Lato" panose="020F0502020204030204" pitchFamily="34" charset="0"/>
              </a:rPr>
              <a:t>channel</a:t>
            </a:r>
            <a:r>
              <a:rPr lang="nl-NL" altLang="nl-NL" sz="1200" dirty="0">
                <a:solidFill>
                  <a:srgbClr val="6E6E6E"/>
                </a:solidFill>
                <a:latin typeface="Lato" panose="020F0502020204030204" pitchFamily="34" charset="0"/>
              </a:rPr>
              <a:t>.</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nl-NL" altLang="nl-NL" sz="1200" dirty="0">
              <a:solidFill>
                <a:srgbClr val="6E6E6E"/>
              </a:solidFill>
              <a:latin typeface="Lato" panose="020F0502020204030204" pitchFamily="34" charset="0"/>
            </a:endParaRPr>
          </a:p>
          <a:p>
            <a:pPr defTabSz="914400" eaLnBrk="0" fontAlgn="base" hangingPunct="0">
              <a:spcBef>
                <a:spcPct val="0"/>
              </a:spcBef>
              <a:spcAft>
                <a:spcPct val="0"/>
              </a:spcAft>
            </a:pPr>
            <a:r>
              <a:rPr lang="nl-NL" altLang="nl-NL" sz="1200" b="1" dirty="0">
                <a:solidFill>
                  <a:srgbClr val="118EC0"/>
                </a:solidFill>
                <a:latin typeface="Lato" panose="020F0502020204030204" pitchFamily="34" charset="0"/>
              </a:rPr>
              <a:t>Beoordeling</a:t>
            </a:r>
            <a:endParaRPr lang="nl-NL" altLang="nl-NL" sz="1200" dirty="0">
              <a:solidFill>
                <a:srgbClr val="6E6E6E"/>
              </a:solidFill>
              <a:latin typeface="Lato" panose="020F050202020403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lang="nl-NL" altLang="nl-NL" sz="1200" dirty="0">
              <a:solidFill>
                <a:srgbClr val="6E6E6E"/>
              </a:solidFill>
              <a:latin typeface="Lato" panose="020F0502020204030204" pitchFamily="34" charset="0"/>
            </a:endParaRPr>
          </a:p>
          <a:p>
            <a:pPr marL="285750" lvl="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Op dinsdag 2 juni vindt van 13:00 -17:00 de eindsessie van de Olympische spelen datavisualisatie challenge plaats. Tijdens deze sessie worden alle tijdige ingeleverde dashboards LIVE beoordeeld door een vooraf samengestelde jury.</a:t>
            </a:r>
          </a:p>
          <a:p>
            <a:pPr marL="285750" lvl="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Op dinsdag 2 juni vindt aan het einde van de eindsessie de prijsuitreiking plaats.</a:t>
            </a:r>
          </a:p>
          <a:p>
            <a:pPr marL="285750" lvl="0" indent="-285750" defTabSz="914400" eaLnBrk="0" fontAlgn="base" hangingPunct="0">
              <a:spcBef>
                <a:spcPct val="0"/>
              </a:spcBef>
              <a:spcAft>
                <a:spcPct val="0"/>
              </a:spcAft>
              <a:buFont typeface="Wingdings" panose="05000000000000000000" pitchFamily="2" charset="2"/>
              <a:buChar char="§"/>
            </a:pPr>
            <a:r>
              <a:rPr lang="nl-NL" altLang="nl-NL" sz="1200" dirty="0">
                <a:solidFill>
                  <a:srgbClr val="6E6E6E"/>
                </a:solidFill>
                <a:latin typeface="Lato" panose="020F0502020204030204" pitchFamily="34" charset="0"/>
              </a:rPr>
              <a:t>Degene met de meeste stemmen van de jury is de winnaar van de Olympische spelen datavisualisatie challenge. Deze persoon ontvang een leuke prijs.</a:t>
            </a:r>
          </a:p>
        </p:txBody>
      </p:sp>
      <p:sp>
        <p:nvSpPr>
          <p:cNvPr id="24" name="Tekstvak 23">
            <a:extLst>
              <a:ext uri="{FF2B5EF4-FFF2-40B4-BE49-F238E27FC236}">
                <a16:creationId xmlns:a16="http://schemas.microsoft.com/office/drawing/2014/main" id="{A7C41DD4-C664-715E-19FB-D006467773CB}"/>
              </a:ext>
            </a:extLst>
          </p:cNvPr>
          <p:cNvSpPr txBox="1"/>
          <p:nvPr/>
        </p:nvSpPr>
        <p:spPr>
          <a:xfrm>
            <a:off x="663388" y="350402"/>
            <a:ext cx="1588897" cy="461665"/>
          </a:xfrm>
          <a:prstGeom prst="rect">
            <a:avLst/>
          </a:prstGeom>
          <a:noFill/>
        </p:spPr>
        <p:txBody>
          <a:bodyPr wrap="none" rtlCol="0">
            <a:spAutoFit/>
          </a:bodyPr>
          <a:lstStyle/>
          <a:p>
            <a:r>
              <a:rPr lang="en-US" sz="2400" b="1" i="0">
                <a:solidFill>
                  <a:srgbClr val="118EC0"/>
                </a:solidFill>
                <a:effectLst/>
                <a:latin typeface="Lato" panose="020F0502020204030204" pitchFamily="34" charset="0"/>
              </a:rPr>
              <a:t>Spelregels</a:t>
            </a:r>
            <a:endParaRPr lang="en-US" sz="2400" b="1">
              <a:solidFill>
                <a:srgbClr val="118EC0"/>
              </a:solidFill>
              <a:latin typeface="Lato" panose="020F0502020204030204" pitchFamily="34" charset="0"/>
            </a:endParaRPr>
          </a:p>
        </p:txBody>
      </p:sp>
      <p:pic>
        <p:nvPicPr>
          <p:cNvPr id="2" name="Picture 6" descr="Olympic Sports Logos">
            <a:extLst>
              <a:ext uri="{FF2B5EF4-FFF2-40B4-BE49-F238E27FC236}">
                <a16:creationId xmlns:a16="http://schemas.microsoft.com/office/drawing/2014/main" id="{3D9D1354-A403-8652-6792-5D2049B987B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7456" y="228049"/>
            <a:ext cx="1956798" cy="11006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639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1463DA-7E7B-E159-762B-C0698345A845}"/>
            </a:ext>
          </a:extLst>
        </p:cNvPr>
        <p:cNvGrpSpPr/>
        <p:nvPr/>
      </p:nvGrpSpPr>
      <p:grpSpPr>
        <a:xfrm>
          <a:off x="0" y="0"/>
          <a:ext cx="0" cy="0"/>
          <a:chOff x="0" y="0"/>
          <a:chExt cx="0" cy="0"/>
        </a:xfrm>
      </p:grpSpPr>
      <p:pic>
        <p:nvPicPr>
          <p:cNvPr id="19" name="Afbeelding 18" descr="Afbeelding met zwart, duisternis&#10;&#10;Automatisch gegenereerde beschrijving">
            <a:extLst>
              <a:ext uri="{FF2B5EF4-FFF2-40B4-BE49-F238E27FC236}">
                <a16:creationId xmlns:a16="http://schemas.microsoft.com/office/drawing/2014/main" id="{19146416-7578-1C32-2EBF-3FF16052EF9C}"/>
              </a:ext>
            </a:extLst>
          </p:cNvPr>
          <p:cNvPicPr>
            <a:picLocks noChangeAspect="1"/>
          </p:cNvPicPr>
          <p:nvPr/>
        </p:nvPicPr>
        <p:blipFill rotWithShape="1">
          <a:blip r:embed="rId2">
            <a:lum bright="70000" contrast="-70000"/>
            <a:alphaModFix amt="20000"/>
            <a:extLst>
              <a:ext uri="{28A0092B-C50C-407E-A947-70E740481C1C}">
                <a14:useLocalDpi xmlns:a14="http://schemas.microsoft.com/office/drawing/2010/main" val="0"/>
              </a:ext>
            </a:extLst>
          </a:blip>
          <a:srcRect l="18870" t="2538" r="14958" b="21197"/>
          <a:stretch/>
        </p:blipFill>
        <p:spPr>
          <a:xfrm>
            <a:off x="61965" y="4890489"/>
            <a:ext cx="422029" cy="486397"/>
          </a:xfrm>
          <a:prstGeom prst="rect">
            <a:avLst/>
          </a:prstGeom>
        </p:spPr>
      </p:pic>
      <p:pic>
        <p:nvPicPr>
          <p:cNvPr id="1028" name="Picture 4" descr="Stick Figure Runner Sprinter Sequence Icon Stock Vector (Royalty Free)  1540387109 | Shutterstock">
            <a:extLst>
              <a:ext uri="{FF2B5EF4-FFF2-40B4-BE49-F238E27FC236}">
                <a16:creationId xmlns:a16="http://schemas.microsoft.com/office/drawing/2014/main" id="{B65A3218-EA94-DB12-816B-A400D82E719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t="1" r="38250" b="54765"/>
          <a:stretch>
            <a:fillRect/>
          </a:stretch>
        </p:blipFill>
        <p:spPr bwMode="auto">
          <a:xfrm>
            <a:off x="866797" y="2066009"/>
            <a:ext cx="1956800" cy="1199047"/>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Rechte verbindingslijn 15">
            <a:extLst>
              <a:ext uri="{FF2B5EF4-FFF2-40B4-BE49-F238E27FC236}">
                <a16:creationId xmlns:a16="http://schemas.microsoft.com/office/drawing/2014/main" id="{BC7429EA-4B87-50CA-9156-D7A3BCE2387C}"/>
              </a:ext>
            </a:extLst>
          </p:cNvPr>
          <p:cNvCxnSpPr>
            <a:cxnSpLocks/>
          </p:cNvCxnSpPr>
          <p:nvPr/>
        </p:nvCxnSpPr>
        <p:spPr>
          <a:xfrm>
            <a:off x="7597818" y="3352356"/>
            <a:ext cx="0" cy="245056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7" name="Rechthoek 16">
            <a:extLst>
              <a:ext uri="{FF2B5EF4-FFF2-40B4-BE49-F238E27FC236}">
                <a16:creationId xmlns:a16="http://schemas.microsoft.com/office/drawing/2014/main" id="{45764B30-B87E-5B2A-8C9B-809654F68C95}"/>
              </a:ext>
            </a:extLst>
          </p:cNvPr>
          <p:cNvSpPr/>
          <p:nvPr/>
        </p:nvSpPr>
        <p:spPr>
          <a:xfrm>
            <a:off x="6807060" y="3925243"/>
            <a:ext cx="1559952" cy="637263"/>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b="1" dirty="0">
                <a:solidFill>
                  <a:schemeClr val="bg1"/>
                </a:solidFill>
                <a:latin typeface="Segoe UI Variable Small Semibol" pitchFamily="2" charset="0"/>
              </a:rPr>
              <a:t>Uiterste inleverdatum</a:t>
            </a:r>
          </a:p>
        </p:txBody>
      </p:sp>
      <p:sp>
        <p:nvSpPr>
          <p:cNvPr id="18" name="Rechthoek 17">
            <a:extLst>
              <a:ext uri="{FF2B5EF4-FFF2-40B4-BE49-F238E27FC236}">
                <a16:creationId xmlns:a16="http://schemas.microsoft.com/office/drawing/2014/main" id="{B102F541-EA88-BEE5-C3BC-35A7FBA4572C}"/>
              </a:ext>
            </a:extLst>
          </p:cNvPr>
          <p:cNvSpPr/>
          <p:nvPr/>
        </p:nvSpPr>
        <p:spPr>
          <a:xfrm>
            <a:off x="6423519" y="5374210"/>
            <a:ext cx="2327033" cy="767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a:solidFill>
                  <a:srgbClr val="4472C4"/>
                </a:solidFill>
                <a:latin typeface="Segoe UI Variable Small Light" pitchFamily="2" charset="0"/>
              </a:rPr>
              <a:t>Maandag 1 juni 2026</a:t>
            </a:r>
          </a:p>
          <a:p>
            <a:pPr algn="ctr"/>
            <a:r>
              <a:rPr lang="nl-NL" sz="1400" b="1" dirty="0">
                <a:solidFill>
                  <a:srgbClr val="4472C4"/>
                </a:solidFill>
                <a:latin typeface="Segoe UI Variable Small Light" pitchFamily="2" charset="0"/>
              </a:rPr>
              <a:t>17:00 uur</a:t>
            </a:r>
          </a:p>
        </p:txBody>
      </p:sp>
      <p:cxnSp>
        <p:nvCxnSpPr>
          <p:cNvPr id="20" name="Rechte verbindingslijn 19">
            <a:extLst>
              <a:ext uri="{FF2B5EF4-FFF2-40B4-BE49-F238E27FC236}">
                <a16:creationId xmlns:a16="http://schemas.microsoft.com/office/drawing/2014/main" id="{8F467859-B089-31B3-C02D-53722ADEB985}"/>
              </a:ext>
            </a:extLst>
          </p:cNvPr>
          <p:cNvCxnSpPr>
            <a:cxnSpLocks/>
          </p:cNvCxnSpPr>
          <p:nvPr/>
        </p:nvCxnSpPr>
        <p:spPr>
          <a:xfrm>
            <a:off x="9965391" y="3389712"/>
            <a:ext cx="0" cy="245056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Rechthoek 20">
            <a:extLst>
              <a:ext uri="{FF2B5EF4-FFF2-40B4-BE49-F238E27FC236}">
                <a16:creationId xmlns:a16="http://schemas.microsoft.com/office/drawing/2014/main" id="{D0618198-CAA1-2E85-539F-FC6A145D54E8}"/>
              </a:ext>
            </a:extLst>
          </p:cNvPr>
          <p:cNvSpPr/>
          <p:nvPr/>
        </p:nvSpPr>
        <p:spPr>
          <a:xfrm>
            <a:off x="9136204" y="3932613"/>
            <a:ext cx="1626066" cy="637263"/>
          </a:xfrm>
          <a:prstGeom prst="rect">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a:solidFill>
                  <a:schemeClr val="bg1"/>
                </a:solidFill>
                <a:latin typeface="Segoe UI Variable Small Semibol" pitchFamily="2" charset="0"/>
              </a:rPr>
              <a:t>Eindsessie:</a:t>
            </a:r>
          </a:p>
          <a:p>
            <a:pPr marL="171450" indent="-171450">
              <a:buFont typeface="Arial" panose="020B0604020202020204" pitchFamily="34" charset="0"/>
              <a:buChar char="•"/>
            </a:pPr>
            <a:r>
              <a:rPr lang="nl-NL" sz="1200" b="1" dirty="0">
                <a:solidFill>
                  <a:schemeClr val="bg1"/>
                </a:solidFill>
                <a:latin typeface="Segoe UI Variable Small Semibol" pitchFamily="2" charset="0"/>
              </a:rPr>
              <a:t>Live jury oordeel</a:t>
            </a:r>
          </a:p>
          <a:p>
            <a:pPr marL="171450" indent="-171450">
              <a:buFont typeface="Arial" panose="020B0604020202020204" pitchFamily="34" charset="0"/>
              <a:buChar char="•"/>
            </a:pPr>
            <a:r>
              <a:rPr lang="nl-NL" sz="1200" b="1" dirty="0">
                <a:solidFill>
                  <a:schemeClr val="bg1"/>
                </a:solidFill>
                <a:latin typeface="Segoe UI Variable Small Semibol" pitchFamily="2" charset="0"/>
              </a:rPr>
              <a:t>Prijsuitreiking</a:t>
            </a:r>
          </a:p>
        </p:txBody>
      </p:sp>
      <p:sp>
        <p:nvSpPr>
          <p:cNvPr id="22" name="Rechthoek 21">
            <a:extLst>
              <a:ext uri="{FF2B5EF4-FFF2-40B4-BE49-F238E27FC236}">
                <a16:creationId xmlns:a16="http://schemas.microsoft.com/office/drawing/2014/main" id="{9E2C185F-5EAE-F97F-456A-6E8C56D86DE8}"/>
              </a:ext>
            </a:extLst>
          </p:cNvPr>
          <p:cNvSpPr/>
          <p:nvPr/>
        </p:nvSpPr>
        <p:spPr>
          <a:xfrm>
            <a:off x="9053110" y="5369902"/>
            <a:ext cx="1808692" cy="7677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a:solidFill>
                  <a:srgbClr val="4472C4"/>
                </a:solidFill>
                <a:latin typeface="Segoe UI Variable Small Light" pitchFamily="2" charset="0"/>
              </a:rPr>
              <a:t>Dinsdag 2 juni 2026</a:t>
            </a:r>
          </a:p>
          <a:p>
            <a:pPr algn="ctr"/>
            <a:r>
              <a:rPr lang="nl-NL" sz="1400" b="1" dirty="0">
                <a:solidFill>
                  <a:srgbClr val="4472C4"/>
                </a:solidFill>
                <a:latin typeface="Segoe UI Variable Small Light" pitchFamily="2" charset="0"/>
              </a:rPr>
              <a:t>13:00 - 17:00</a:t>
            </a:r>
          </a:p>
        </p:txBody>
      </p:sp>
      <p:sp>
        <p:nvSpPr>
          <p:cNvPr id="23" name="Rechthoek 22">
            <a:extLst>
              <a:ext uri="{FF2B5EF4-FFF2-40B4-BE49-F238E27FC236}">
                <a16:creationId xmlns:a16="http://schemas.microsoft.com/office/drawing/2014/main" id="{07D25846-85BE-EC52-C31B-DDA85F576013}"/>
              </a:ext>
            </a:extLst>
          </p:cNvPr>
          <p:cNvSpPr/>
          <p:nvPr/>
        </p:nvSpPr>
        <p:spPr>
          <a:xfrm>
            <a:off x="11282243" y="3194190"/>
            <a:ext cx="823344" cy="337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dirty="0">
                <a:solidFill>
                  <a:srgbClr val="4472C4"/>
                </a:solidFill>
                <a:latin typeface="Comic Sans MS" panose="030F0702030302020204" pitchFamily="66" charset="0"/>
              </a:rPr>
              <a:t>Finish</a:t>
            </a:r>
          </a:p>
        </p:txBody>
      </p:sp>
      <p:pic>
        <p:nvPicPr>
          <p:cNvPr id="25" name="Afbeelding 24" descr="Afbeelding met zwart, duisternis&#10;&#10;Door AI gegenereerde inhoud is mogelijk onjuist.">
            <a:extLst>
              <a:ext uri="{FF2B5EF4-FFF2-40B4-BE49-F238E27FC236}">
                <a16:creationId xmlns:a16="http://schemas.microsoft.com/office/drawing/2014/main" id="{10F34656-3930-24AA-D391-CA9A1B402626}"/>
              </a:ext>
            </a:extLst>
          </p:cNvPr>
          <p:cNvPicPr>
            <a:picLocks noChangeAspect="1"/>
          </p:cNvPicPr>
          <p:nvPr/>
        </p:nvPicPr>
        <p:blipFill>
          <a:blip r:embed="rId4">
            <a:extLst>
              <a:ext uri="{28A0092B-C50C-407E-A947-70E740481C1C}">
                <a14:useLocalDpi xmlns:a14="http://schemas.microsoft.com/office/drawing/2010/main" val="0"/>
              </a:ext>
            </a:extLst>
          </a:blip>
          <a:srcRect t="10308" b="25910"/>
          <a:stretch>
            <a:fillRect/>
          </a:stretch>
        </p:blipFill>
        <p:spPr>
          <a:xfrm>
            <a:off x="6837012" y="2292321"/>
            <a:ext cx="1627459" cy="1038020"/>
          </a:xfrm>
          <a:prstGeom prst="rect">
            <a:avLst/>
          </a:prstGeom>
        </p:spPr>
      </p:pic>
      <p:sp>
        <p:nvSpPr>
          <p:cNvPr id="26" name="Rechthoek 25">
            <a:extLst>
              <a:ext uri="{FF2B5EF4-FFF2-40B4-BE49-F238E27FC236}">
                <a16:creationId xmlns:a16="http://schemas.microsoft.com/office/drawing/2014/main" id="{42C25F86-5A81-4DF8-98EA-5C51A6268148}"/>
              </a:ext>
            </a:extLst>
          </p:cNvPr>
          <p:cNvSpPr/>
          <p:nvPr/>
        </p:nvSpPr>
        <p:spPr>
          <a:xfrm>
            <a:off x="4572057" y="2917637"/>
            <a:ext cx="889536" cy="337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a:solidFill>
                  <a:schemeClr val="accent1">
                    <a:lumMod val="75000"/>
                  </a:schemeClr>
                </a:solidFill>
                <a:latin typeface="Segoe UI Variable Small Light" pitchFamily="2" charset="0"/>
              </a:rPr>
              <a:t>3 weken</a:t>
            </a:r>
          </a:p>
        </p:txBody>
      </p:sp>
      <p:sp>
        <p:nvSpPr>
          <p:cNvPr id="27" name="Rechthoek 26">
            <a:extLst>
              <a:ext uri="{FF2B5EF4-FFF2-40B4-BE49-F238E27FC236}">
                <a16:creationId xmlns:a16="http://schemas.microsoft.com/office/drawing/2014/main" id="{A96591F0-B90F-7B09-BA7B-E9B61457EC03}"/>
              </a:ext>
            </a:extLst>
          </p:cNvPr>
          <p:cNvSpPr/>
          <p:nvPr/>
        </p:nvSpPr>
        <p:spPr>
          <a:xfrm>
            <a:off x="275910" y="3389712"/>
            <a:ext cx="1568136" cy="6372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b="1" dirty="0">
                <a:solidFill>
                  <a:srgbClr val="4472C4"/>
                </a:solidFill>
                <a:latin typeface="Segoe UI Variable Small Light" pitchFamily="2" charset="0"/>
              </a:rPr>
              <a:t>11 mei 2026</a:t>
            </a:r>
          </a:p>
        </p:txBody>
      </p:sp>
      <p:pic>
        <p:nvPicPr>
          <p:cNvPr id="30" name="Afbeelding 29" descr="Afbeelding met zwart, duisternis&#10;&#10;Door AI gegenereerde inhoud is mogelijk onjuist.">
            <a:extLst>
              <a:ext uri="{FF2B5EF4-FFF2-40B4-BE49-F238E27FC236}">
                <a16:creationId xmlns:a16="http://schemas.microsoft.com/office/drawing/2014/main" id="{022A2FD6-BF18-5A43-C22B-7F6711AD7257}"/>
              </a:ext>
            </a:extLst>
          </p:cNvPr>
          <p:cNvPicPr>
            <a:picLocks noChangeAspect="1"/>
          </p:cNvPicPr>
          <p:nvPr/>
        </p:nvPicPr>
        <p:blipFill>
          <a:blip r:embed="rId5">
            <a:extLst>
              <a:ext uri="{28A0092B-C50C-407E-A947-70E740481C1C}">
                <a14:useLocalDpi xmlns:a14="http://schemas.microsoft.com/office/drawing/2010/main" val="0"/>
              </a:ext>
            </a:extLst>
          </a:blip>
          <a:srcRect b="18088"/>
          <a:stretch>
            <a:fillRect/>
          </a:stretch>
        </p:blipFill>
        <p:spPr>
          <a:xfrm>
            <a:off x="9339880" y="2302555"/>
            <a:ext cx="1218714" cy="998274"/>
          </a:xfrm>
          <a:prstGeom prst="rect">
            <a:avLst/>
          </a:prstGeom>
        </p:spPr>
      </p:pic>
      <p:sp>
        <p:nvSpPr>
          <p:cNvPr id="31" name="Rechthoek 30">
            <a:extLst>
              <a:ext uri="{FF2B5EF4-FFF2-40B4-BE49-F238E27FC236}">
                <a16:creationId xmlns:a16="http://schemas.microsoft.com/office/drawing/2014/main" id="{3268B96F-6CCB-73B3-9687-A603364777FA}"/>
              </a:ext>
            </a:extLst>
          </p:cNvPr>
          <p:cNvSpPr/>
          <p:nvPr/>
        </p:nvSpPr>
        <p:spPr>
          <a:xfrm rot="16200000">
            <a:off x="-3187004" y="3187004"/>
            <a:ext cx="6858003" cy="48399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2800" b="1" dirty="0">
                <a:solidFill>
                  <a:schemeClr val="bg1"/>
                </a:solidFill>
                <a:latin typeface="Arial" panose="020B0604020202020204" pitchFamily="34" charset="0"/>
                <a:ea typeface="ADLaM Display" panose="020F0502020204030204" pitchFamily="2" charset="0"/>
                <a:cs typeface="Arial" panose="020B0604020202020204" pitchFamily="34" charset="0"/>
              </a:rPr>
              <a:t>PLANNING</a:t>
            </a:r>
          </a:p>
        </p:txBody>
      </p:sp>
      <p:sp>
        <p:nvSpPr>
          <p:cNvPr id="32" name="Rechthoek 31">
            <a:extLst>
              <a:ext uri="{FF2B5EF4-FFF2-40B4-BE49-F238E27FC236}">
                <a16:creationId xmlns:a16="http://schemas.microsoft.com/office/drawing/2014/main" id="{D1B29AC5-4045-E689-04F5-34BF9E455FA8}"/>
              </a:ext>
            </a:extLst>
          </p:cNvPr>
          <p:cNvSpPr/>
          <p:nvPr/>
        </p:nvSpPr>
        <p:spPr>
          <a:xfrm>
            <a:off x="624418" y="86447"/>
            <a:ext cx="6714492" cy="89824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nl-NL" sz="4400" b="1" dirty="0">
                <a:solidFill>
                  <a:srgbClr val="4472C4"/>
                </a:solidFill>
                <a:latin typeface="Segoe UI Variable Small Semibol" pitchFamily="2" charset="0"/>
              </a:rPr>
              <a:t>CHALLENGE</a:t>
            </a:r>
            <a:endParaRPr lang="nl-NL" b="1" dirty="0">
              <a:solidFill>
                <a:srgbClr val="4472C4"/>
              </a:solidFill>
              <a:latin typeface="Comic Sans MS" panose="030F0702030302020204" pitchFamily="66" charset="0"/>
            </a:endParaRPr>
          </a:p>
        </p:txBody>
      </p:sp>
      <p:pic>
        <p:nvPicPr>
          <p:cNvPr id="1030" name="Picture 6" descr="Olympic Sports Logos">
            <a:extLst>
              <a:ext uri="{FF2B5EF4-FFF2-40B4-BE49-F238E27FC236}">
                <a16:creationId xmlns:a16="http://schemas.microsoft.com/office/drawing/2014/main" id="{C5BD94BF-956B-4773-9B58-88B289F9D5A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957456" y="228049"/>
            <a:ext cx="1956798" cy="1100699"/>
          </a:xfrm>
          <a:prstGeom prst="rect">
            <a:avLst/>
          </a:prstGeom>
          <a:noFill/>
          <a:extLst>
            <a:ext uri="{909E8E84-426E-40DD-AFC4-6F175D3DCCD1}">
              <a14:hiddenFill xmlns:a14="http://schemas.microsoft.com/office/drawing/2010/main">
                <a:solidFill>
                  <a:srgbClr val="FFFFFF"/>
                </a:solidFill>
              </a14:hiddenFill>
            </a:ext>
          </a:extLst>
        </p:spPr>
      </p:pic>
      <p:sp>
        <p:nvSpPr>
          <p:cNvPr id="29" name="Rechthoek 28">
            <a:extLst>
              <a:ext uri="{FF2B5EF4-FFF2-40B4-BE49-F238E27FC236}">
                <a16:creationId xmlns:a16="http://schemas.microsoft.com/office/drawing/2014/main" id="{0BBD43B1-AE1F-223B-75BC-8D4F742A833B}"/>
              </a:ext>
            </a:extLst>
          </p:cNvPr>
          <p:cNvSpPr/>
          <p:nvPr/>
        </p:nvSpPr>
        <p:spPr>
          <a:xfrm>
            <a:off x="536496" y="3222742"/>
            <a:ext cx="889536" cy="3377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dirty="0">
                <a:solidFill>
                  <a:srgbClr val="4472C4"/>
                </a:solidFill>
                <a:latin typeface="Segoe UI Variable Small Semibol" pitchFamily="2" charset="0"/>
              </a:rPr>
              <a:t>Start</a:t>
            </a:r>
          </a:p>
        </p:txBody>
      </p:sp>
      <p:cxnSp>
        <p:nvCxnSpPr>
          <p:cNvPr id="6" name="Rechte verbindingslijn 5">
            <a:extLst>
              <a:ext uri="{FF2B5EF4-FFF2-40B4-BE49-F238E27FC236}">
                <a16:creationId xmlns:a16="http://schemas.microsoft.com/office/drawing/2014/main" id="{FF297B0B-E10B-940A-5A83-BF90C40EB146}"/>
              </a:ext>
            </a:extLst>
          </p:cNvPr>
          <p:cNvCxnSpPr>
            <a:cxnSpLocks/>
          </p:cNvCxnSpPr>
          <p:nvPr/>
        </p:nvCxnSpPr>
        <p:spPr>
          <a:xfrm>
            <a:off x="1396721" y="3352356"/>
            <a:ext cx="9848641" cy="37356"/>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36" name="Afbeelding 35" descr="Afbeelding met zwart, duisternis&#10;&#10;Door AI gegenereerde inhoud is mogelijk onjuist.">
            <a:extLst>
              <a:ext uri="{FF2B5EF4-FFF2-40B4-BE49-F238E27FC236}">
                <a16:creationId xmlns:a16="http://schemas.microsoft.com/office/drawing/2014/main" id="{457A850F-ACF6-C8D2-E64C-43E7CD85B1D1}"/>
              </a:ext>
            </a:extLst>
          </p:cNvPr>
          <p:cNvPicPr>
            <a:picLocks noChangeAspect="1"/>
          </p:cNvPicPr>
          <p:nvPr/>
        </p:nvPicPr>
        <p:blipFill>
          <a:blip r:embed="rId7">
            <a:extLst>
              <a:ext uri="{28A0092B-C50C-407E-A947-70E740481C1C}">
                <a14:useLocalDpi xmlns:a14="http://schemas.microsoft.com/office/drawing/2010/main" val="0"/>
              </a:ext>
            </a:extLst>
          </a:blip>
          <a:srcRect b="16474"/>
          <a:stretch>
            <a:fillRect/>
          </a:stretch>
        </p:blipFill>
        <p:spPr>
          <a:xfrm>
            <a:off x="11186391" y="2454975"/>
            <a:ext cx="919196" cy="767767"/>
          </a:xfrm>
          <a:prstGeom prst="rect">
            <a:avLst/>
          </a:prstGeom>
        </p:spPr>
      </p:pic>
      <p:sp>
        <p:nvSpPr>
          <p:cNvPr id="37" name="Rechthoek 36">
            <a:extLst>
              <a:ext uri="{FF2B5EF4-FFF2-40B4-BE49-F238E27FC236}">
                <a16:creationId xmlns:a16="http://schemas.microsoft.com/office/drawing/2014/main" id="{49476159-BF73-04ED-AAE8-3961D5EF0345}"/>
              </a:ext>
            </a:extLst>
          </p:cNvPr>
          <p:cNvSpPr/>
          <p:nvPr/>
        </p:nvSpPr>
        <p:spPr>
          <a:xfrm>
            <a:off x="3360947" y="984694"/>
            <a:ext cx="5470105" cy="7557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4000" b="1" dirty="0">
                <a:solidFill>
                  <a:srgbClr val="00A2C9"/>
                </a:solidFill>
                <a:latin typeface="Bahnschrift SemiLight" panose="020B0502040204020203" pitchFamily="34" charset="0"/>
              </a:rPr>
              <a:t>O</a:t>
            </a:r>
            <a:r>
              <a:rPr lang="nl-NL" sz="4000" b="1" dirty="0">
                <a:solidFill>
                  <a:srgbClr val="F39F00"/>
                </a:solidFill>
                <a:latin typeface="Bahnschrift SemiLight" panose="020B0502040204020203" pitchFamily="34" charset="0"/>
              </a:rPr>
              <a:t>L</a:t>
            </a:r>
            <a:r>
              <a:rPr lang="nl-NL" sz="4000" b="1" dirty="0">
                <a:solidFill>
                  <a:srgbClr val="010101"/>
                </a:solidFill>
                <a:latin typeface="Bahnschrift SemiLight" panose="020B0502040204020203" pitchFamily="34" charset="0"/>
              </a:rPr>
              <a:t>Y</a:t>
            </a:r>
            <a:r>
              <a:rPr lang="nl-NL" sz="4000" b="1" dirty="0">
                <a:solidFill>
                  <a:srgbClr val="029C26"/>
                </a:solidFill>
                <a:latin typeface="Bahnschrift SemiLight" panose="020B0502040204020203" pitchFamily="34" charset="0"/>
              </a:rPr>
              <a:t>M</a:t>
            </a:r>
            <a:r>
              <a:rPr lang="nl-NL" sz="4000" b="1" dirty="0">
                <a:solidFill>
                  <a:srgbClr val="F90505"/>
                </a:solidFill>
                <a:latin typeface="Bahnschrift SemiLight" panose="020B0502040204020203" pitchFamily="34" charset="0"/>
              </a:rPr>
              <a:t>P</a:t>
            </a:r>
            <a:r>
              <a:rPr lang="nl-NL" sz="4000" b="1" dirty="0">
                <a:solidFill>
                  <a:srgbClr val="00A2C9"/>
                </a:solidFill>
                <a:latin typeface="Bahnschrift SemiLight" panose="020B0502040204020203" pitchFamily="34" charset="0"/>
              </a:rPr>
              <a:t>I</a:t>
            </a:r>
            <a:r>
              <a:rPr lang="nl-NL" sz="4000" b="1" dirty="0">
                <a:solidFill>
                  <a:srgbClr val="F39F00"/>
                </a:solidFill>
                <a:latin typeface="Bahnschrift SemiLight" panose="020B0502040204020203" pitchFamily="34" charset="0"/>
              </a:rPr>
              <a:t>S</a:t>
            </a:r>
            <a:r>
              <a:rPr lang="nl-NL" sz="4000" b="1" dirty="0">
                <a:solidFill>
                  <a:schemeClr val="tx1"/>
                </a:solidFill>
                <a:latin typeface="Bahnschrift SemiLight" panose="020B0502040204020203" pitchFamily="34" charset="0"/>
              </a:rPr>
              <a:t>C</a:t>
            </a:r>
            <a:r>
              <a:rPr lang="nl-NL" sz="4000" b="1" dirty="0">
                <a:solidFill>
                  <a:srgbClr val="029C26"/>
                </a:solidFill>
                <a:latin typeface="Bahnschrift SemiLight" panose="020B0502040204020203" pitchFamily="34" charset="0"/>
              </a:rPr>
              <a:t>H</a:t>
            </a:r>
            <a:r>
              <a:rPr lang="nl-NL" sz="4000" b="1" dirty="0">
                <a:solidFill>
                  <a:srgbClr val="F90505"/>
                </a:solidFill>
                <a:latin typeface="Bahnschrift SemiLight" panose="020B0502040204020203" pitchFamily="34" charset="0"/>
              </a:rPr>
              <a:t>E</a:t>
            </a:r>
            <a:r>
              <a:rPr lang="nl-NL" sz="4000" b="1" dirty="0">
                <a:solidFill>
                  <a:schemeClr val="tx1"/>
                </a:solidFill>
                <a:latin typeface="Bahnschrift SemiLight" panose="020B0502040204020203" pitchFamily="34" charset="0"/>
              </a:rPr>
              <a:t> </a:t>
            </a:r>
            <a:r>
              <a:rPr lang="nl-NL" sz="4000" b="1" dirty="0">
                <a:solidFill>
                  <a:srgbClr val="00A2C9"/>
                </a:solidFill>
                <a:latin typeface="Bahnschrift SemiLight" panose="020B0502040204020203" pitchFamily="34" charset="0"/>
              </a:rPr>
              <a:t>S</a:t>
            </a:r>
            <a:r>
              <a:rPr lang="nl-NL" sz="4000" b="1" dirty="0">
                <a:solidFill>
                  <a:srgbClr val="F39F00"/>
                </a:solidFill>
                <a:latin typeface="Bahnschrift SemiLight" panose="020B0502040204020203" pitchFamily="34" charset="0"/>
              </a:rPr>
              <a:t>P</a:t>
            </a:r>
            <a:r>
              <a:rPr lang="nl-NL" sz="4000" b="1" dirty="0">
                <a:solidFill>
                  <a:schemeClr val="tx1"/>
                </a:solidFill>
                <a:latin typeface="Bahnschrift SemiLight" panose="020B0502040204020203" pitchFamily="34" charset="0"/>
              </a:rPr>
              <a:t>E</a:t>
            </a:r>
            <a:r>
              <a:rPr lang="nl-NL" sz="4000" b="1" dirty="0">
                <a:solidFill>
                  <a:srgbClr val="029C26"/>
                </a:solidFill>
                <a:latin typeface="Bahnschrift SemiLight" panose="020B0502040204020203" pitchFamily="34" charset="0"/>
              </a:rPr>
              <a:t>L</a:t>
            </a:r>
            <a:r>
              <a:rPr lang="nl-NL" sz="4000" b="1" dirty="0">
                <a:solidFill>
                  <a:srgbClr val="F90505"/>
                </a:solidFill>
                <a:latin typeface="Bahnschrift SemiLight" panose="020B0502040204020203" pitchFamily="34" charset="0"/>
              </a:rPr>
              <a:t>E</a:t>
            </a:r>
            <a:r>
              <a:rPr lang="nl-NL" sz="4000" b="1" dirty="0">
                <a:solidFill>
                  <a:srgbClr val="00A2C9"/>
                </a:solidFill>
                <a:latin typeface="Bahnschrift SemiLight" panose="020B0502040204020203" pitchFamily="34" charset="0"/>
              </a:rPr>
              <a:t>N</a:t>
            </a:r>
          </a:p>
        </p:txBody>
      </p:sp>
      <p:sp>
        <p:nvSpPr>
          <p:cNvPr id="38" name="Rechthoek 37">
            <a:extLst>
              <a:ext uri="{FF2B5EF4-FFF2-40B4-BE49-F238E27FC236}">
                <a16:creationId xmlns:a16="http://schemas.microsoft.com/office/drawing/2014/main" id="{94A1878E-6F83-EB35-D42E-8F4ABF62E6FF}"/>
              </a:ext>
            </a:extLst>
          </p:cNvPr>
          <p:cNvSpPr/>
          <p:nvPr/>
        </p:nvSpPr>
        <p:spPr>
          <a:xfrm>
            <a:off x="1850132" y="754231"/>
            <a:ext cx="3090489" cy="34111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b="1" dirty="0">
                <a:solidFill>
                  <a:srgbClr val="4472C4"/>
                </a:solidFill>
                <a:latin typeface="Comic Sans MS" panose="030F0702030302020204" pitchFamily="66" charset="0"/>
              </a:rPr>
              <a:t>datavisualisatie</a:t>
            </a:r>
          </a:p>
        </p:txBody>
      </p:sp>
    </p:spTree>
    <p:extLst>
      <p:ext uri="{BB962C8B-B14F-4D97-AF65-F5344CB8AC3E}">
        <p14:creationId xmlns:p14="http://schemas.microsoft.com/office/powerpoint/2010/main" val="1914894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22E70-497F-D740-48E6-0124B6158A65}"/>
            </a:ext>
          </a:extLst>
        </p:cNvPr>
        <p:cNvGrpSpPr/>
        <p:nvPr/>
      </p:nvGrpSpPr>
      <p:grpSpPr>
        <a:xfrm>
          <a:off x="0" y="0"/>
          <a:ext cx="0" cy="0"/>
          <a:chOff x="0" y="0"/>
          <a:chExt cx="0" cy="0"/>
        </a:xfrm>
      </p:grpSpPr>
      <p:pic>
        <p:nvPicPr>
          <p:cNvPr id="2054" name="Picture 6" descr="Start Written on Starting Line on of Running Track of Sports Field ...">
            <a:extLst>
              <a:ext uri="{FF2B5EF4-FFF2-40B4-BE49-F238E27FC236}">
                <a16:creationId xmlns:a16="http://schemas.microsoft.com/office/drawing/2014/main" id="{94091E61-7655-9681-8310-EF4426DE7D5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267" b="5004"/>
          <a:stretch>
            <a:fillRect/>
          </a:stretch>
        </p:blipFill>
        <p:spPr bwMode="auto">
          <a:xfrm>
            <a:off x="0" y="1"/>
            <a:ext cx="12270827"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9" name="Afbeelding 18" descr="Afbeelding met zwart, duisternis&#10;&#10;Automatisch gegenereerde beschrijving">
            <a:extLst>
              <a:ext uri="{FF2B5EF4-FFF2-40B4-BE49-F238E27FC236}">
                <a16:creationId xmlns:a16="http://schemas.microsoft.com/office/drawing/2014/main" id="{4FFA6896-3BCC-E02C-1201-386823FA439E}"/>
              </a:ext>
            </a:extLst>
          </p:cNvPr>
          <p:cNvPicPr>
            <a:picLocks noChangeAspect="1"/>
          </p:cNvPicPr>
          <p:nvPr/>
        </p:nvPicPr>
        <p:blipFill rotWithShape="1">
          <a:blip r:embed="rId4">
            <a:lum bright="70000" contrast="-70000"/>
            <a:alphaModFix amt="20000"/>
            <a:extLst>
              <a:ext uri="{28A0092B-C50C-407E-A947-70E740481C1C}">
                <a14:useLocalDpi xmlns:a14="http://schemas.microsoft.com/office/drawing/2010/main" val="0"/>
              </a:ext>
            </a:extLst>
          </a:blip>
          <a:srcRect l="18870" t="2538" r="14958" b="21197"/>
          <a:stretch/>
        </p:blipFill>
        <p:spPr>
          <a:xfrm>
            <a:off x="61965" y="4890489"/>
            <a:ext cx="422029" cy="486397"/>
          </a:xfrm>
          <a:prstGeom prst="rect">
            <a:avLst/>
          </a:prstGeom>
        </p:spPr>
      </p:pic>
      <p:pic>
        <p:nvPicPr>
          <p:cNvPr id="2050" name="Picture 2">
            <a:extLst>
              <a:ext uri="{FF2B5EF4-FFF2-40B4-BE49-F238E27FC236}">
                <a16:creationId xmlns:a16="http://schemas.microsoft.com/office/drawing/2014/main" id="{450A8B41-84BC-C426-2AEF-99FCDA49F1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8506" y="595453"/>
            <a:ext cx="4324627" cy="3243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045491"/>
      </p:ext>
    </p:extLst>
  </p:cSld>
  <p:clrMapOvr>
    <a:masterClrMapping/>
  </p:clrMapOvr>
</p:sld>
</file>

<file path=ppt/theme/theme1.xml><?xml version="1.0" encoding="utf-8"?>
<a:theme xmlns:a="http://schemas.openxmlformats.org/drawingml/2006/main" name="Office 2013 - 2022 Thema">
  <a:themeElements>
    <a:clrScheme name="Office 2013 - 2022 Thema">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a">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a98ad10f-a69b-4e6a-b423-614231f763f5" xsi:nil="true"/>
    <lcf76f155ced4ddcb4097134ff3c332f xmlns="3757cdbb-3995-4e9c-92d9-c8d52b2d0118">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C7BC2C0FCB6F14C810146232E8FEF55" ma:contentTypeVersion="15" ma:contentTypeDescription="Een nieuw document maken." ma:contentTypeScope="" ma:versionID="74b95cf6d79aedb29d50145f6ceb7e81">
  <xsd:schema xmlns:xsd="http://www.w3.org/2001/XMLSchema" xmlns:xs="http://www.w3.org/2001/XMLSchema" xmlns:p="http://schemas.microsoft.com/office/2006/metadata/properties" xmlns:ns2="3757cdbb-3995-4e9c-92d9-c8d52b2d0118" xmlns:ns3="a98ad10f-a69b-4e6a-b423-614231f763f5" targetNamespace="http://schemas.microsoft.com/office/2006/metadata/properties" ma:root="true" ma:fieldsID="15362429226d86489fe328fc42d72803" ns2:_="" ns3:_="">
    <xsd:import namespace="3757cdbb-3995-4e9c-92d9-c8d52b2d0118"/>
    <xsd:import namespace="a98ad10f-a69b-4e6a-b423-614231f763f5"/>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3:SharedWithUsers" minOccurs="0"/>
                <xsd:element ref="ns3:SharedWithDetails" minOccurs="0"/>
                <xsd:element ref="ns2:MediaServiceSearchProperties" minOccurs="0"/>
                <xsd:element ref="ns2:MediaServiceObjectDetectorVersion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757cdbb-3995-4e9c-92d9-c8d52b2d01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Afbeeldingtags" ma:readOnly="false" ma:fieldId="{5cf76f15-5ced-4ddc-b409-7134ff3c332f}" ma:taxonomyMulti="true" ma:sspId="9115ee84-c194-4add-8ddb-ad54b768e1e2" ma:termSetId="09814cd3-568e-fe90-9814-8d621ff8fb84" ma:anchorId="fba54fb3-c3e1-fe81-a776-ca4b69148c4d" ma:open="true" ma:isKeyword="false">
      <xsd:complexType>
        <xsd:sequence>
          <xsd:element ref="pc:Terms" minOccurs="0" maxOccurs="1"/>
        </xsd:sequence>
      </xsd:complexType>
    </xsd:element>
    <xsd:element name="MediaServiceSearchProperties" ma:index="19" nillable="true" ma:displayName="MediaServiceSearchProperties" ma:hidden="true" ma:internalName="MediaServiceSearchProperties" ma:readOnly="true">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DateTaken" ma:index="21" nillable="true" ma:displayName="MediaServiceDateTaken" ma:hidden="true" ma:indexed="true" ma:internalName="MediaServiceDateTake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98ad10f-a69b-4e6a-b423-614231f763f5"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ae935d70-7e8d-4545-a5a0-29a1a89d2016}" ma:internalName="TaxCatchAll" ma:showField="CatchAllData" ma:web="a98ad10f-a69b-4e6a-b423-614231f763f5">
      <xsd:complexType>
        <xsd:complexContent>
          <xsd:extension base="dms:MultiChoiceLookup">
            <xsd:sequence>
              <xsd:element name="Value" type="dms:Lookup" maxOccurs="unbounded" minOccurs="0" nillable="true"/>
            </xsd:sequence>
          </xsd:extension>
        </xsd:complexContent>
      </xsd:complexType>
    </xsd:element>
    <xsd:element name="SharedWithUsers" ma:index="17"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Gedeeld met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C293A4-3B70-4152-B6DB-DDBF0B6FBC48}">
  <ds:schemaRefs>
    <ds:schemaRef ds:uri="http://purl.org/dc/terms/"/>
    <ds:schemaRef ds:uri="http://purl.org/dc/dcmitype/"/>
    <ds:schemaRef ds:uri="http://schemas.microsoft.com/office/2006/metadata/properties"/>
    <ds:schemaRef ds:uri="http://schemas.microsoft.com/office/2006/documentManagement/types"/>
    <ds:schemaRef ds:uri="http://purl.org/dc/elements/1.1/"/>
    <ds:schemaRef ds:uri="3757cdbb-3995-4e9c-92d9-c8d52b2d0118"/>
    <ds:schemaRef ds:uri="http://schemas.openxmlformats.org/package/2006/metadata/core-properties"/>
    <ds:schemaRef ds:uri="a98ad10f-a69b-4e6a-b423-614231f763f5"/>
    <ds:schemaRef ds:uri="http://schemas.microsoft.com/office/infopath/2007/PartnerControls"/>
    <ds:schemaRef ds:uri="http://www.w3.org/XML/1998/namespace"/>
  </ds:schemaRefs>
</ds:datastoreItem>
</file>

<file path=customXml/itemProps2.xml><?xml version="1.0" encoding="utf-8"?>
<ds:datastoreItem xmlns:ds="http://schemas.openxmlformats.org/officeDocument/2006/customXml" ds:itemID="{36C9DE8A-E563-4181-B3FF-202B20BFC9CA}">
  <ds:schemaRefs>
    <ds:schemaRef ds:uri="http://schemas.microsoft.com/sharepoint/v3/contenttype/forms"/>
  </ds:schemaRefs>
</ds:datastoreItem>
</file>

<file path=customXml/itemProps3.xml><?xml version="1.0" encoding="utf-8"?>
<ds:datastoreItem xmlns:ds="http://schemas.openxmlformats.org/officeDocument/2006/customXml" ds:itemID="{0DE72647-23EB-4200-96C8-C16FDEF604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757cdbb-3995-4e9c-92d9-c8d52b2d0118"/>
    <ds:schemaRef ds:uri="a98ad10f-a69b-4e6a-b423-614231f763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TM04033921[[fn=Damast]]</Template>
  <TotalTime>1696</TotalTime>
  <Words>892</Words>
  <Application>Microsoft Office PowerPoint</Application>
  <PresentationFormat>Widescreen</PresentationFormat>
  <Paragraphs>91</Paragraphs>
  <Slides>6</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Aptos</vt:lpstr>
      <vt:lpstr>Arial</vt:lpstr>
      <vt:lpstr>Bahnschrift SemiLight</vt:lpstr>
      <vt:lpstr>Calibri</vt:lpstr>
      <vt:lpstr>Calibri Light</vt:lpstr>
      <vt:lpstr>Comic Sans MS</vt:lpstr>
      <vt:lpstr>Lato</vt:lpstr>
      <vt:lpstr>Segoe UI Variable Small Light</vt:lpstr>
      <vt:lpstr>Segoe UI Variable Small Semibol</vt:lpstr>
      <vt:lpstr>Wingdings</vt:lpstr>
      <vt:lpstr>Office 2013 - 2022 Thema</vt:lpstr>
      <vt:lpstr>PowerPoint Presentation</vt:lpstr>
      <vt:lpstr>Challenge Datavisualisatie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Zakelijk tekenen</dc:title>
  <dc:creator>Kitty van Amerongen</dc:creator>
  <cp:lastModifiedBy>Herjo de Jong</cp:lastModifiedBy>
  <cp:revision>9</cp:revision>
  <dcterms:created xsi:type="dcterms:W3CDTF">2024-02-21T15:53:58Z</dcterms:created>
  <dcterms:modified xsi:type="dcterms:W3CDTF">2026-05-08T12:35:03Z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0x0101003C7BC2C0FCB6F14C810146232E8FEF55</vt:lpwstr>
  </property>
  <property fmtid="{D5CDD505-2E9C-101B-9397-08002B2CF9AE}" pid="3" name="MediaServiceImageTags">
    <vt:lpwstr/>
  </property>
</Properties>
</file>